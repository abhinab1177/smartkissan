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F516F-3CA8-4E71-ADAB-EC95F60669DA}" v="1" dt="2025-09-07T18:00:54.585"/>
    <p1510:client id="{DA8C7071-91DF-4867-8C62-85C1C0CED7A2}" v="52" dt="2025-09-07T16:53:41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5" Type="http://schemas.openxmlformats.org/officeDocument/2006/relationships/image" Target="../media/image15.png"/><Relationship Id="rId10" Type="http://schemas.openxmlformats.org/officeDocument/2006/relationships/image" Target="../media/image10.jpeg"/><Relationship Id="rId19" Type="http://schemas.openxmlformats.org/officeDocument/2006/relationships/image" Target="../media/image19.pn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31691" y="839581"/>
            <a:ext cx="8534400" cy="1752600"/>
          </a:xfrm>
        </p:spPr>
        <p:txBody>
          <a:bodyPr/>
          <a:lstStyle/>
          <a:p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SmartKissan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494" y="1388747"/>
            <a:ext cx="6339808" cy="4956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SIH25015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Intelligent Pesticide Sprinkling System Determined by the Infection Level of a Plant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Agriculture, </a:t>
            </a:r>
            <a:r>
              <a:rPr lang="en-IN" sz="1900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SmartKissan</a:t>
            </a:r>
            <a:endParaRPr lang="en-IN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221635"/>
            <a:ext cx="121919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The Problem</a:t>
            </a: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52246"/>
            <a:ext cx="171029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SmartKissan</a:t>
            </a:r>
            <a:endParaRPr lang="en-IN" sz="1200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BCC0C5-FDA7-D651-C3AD-1E8B3BF2C897}"/>
              </a:ext>
            </a:extLst>
          </p:cNvPr>
          <p:cNvSpPr txBox="1"/>
          <p:nvPr/>
        </p:nvSpPr>
        <p:spPr>
          <a:xfrm>
            <a:off x="46400" y="1564692"/>
            <a:ext cx="583435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₹52,000 crores</a:t>
            </a:r>
            <a:r>
              <a:rPr lang="en-US" dirty="0"/>
              <a:t> - </a:t>
            </a:r>
            <a:r>
              <a:rPr lang="en-US" b="1" dirty="0"/>
              <a:t>Annual crop loss </a:t>
            </a:r>
            <a:r>
              <a:rPr lang="en-US" dirty="0"/>
              <a:t>due to pests in India.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30% pesticide overuse</a:t>
            </a:r>
            <a:r>
              <a:rPr lang="en-US" dirty="0"/>
              <a:t> - Farmers spray entire field blindly.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12 million hectares</a:t>
            </a:r>
            <a:r>
              <a:rPr lang="en-US" dirty="0"/>
              <a:t> of soil contaminated.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40% early infections</a:t>
            </a:r>
            <a:r>
              <a:rPr lang="en-US" dirty="0"/>
              <a:t> missed by manual inspection.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DF373-1E9D-104F-4529-1A9B0175BB61}"/>
              </a:ext>
            </a:extLst>
          </p:cNvPr>
          <p:cNvSpPr txBox="1"/>
          <p:nvPr/>
        </p:nvSpPr>
        <p:spPr>
          <a:xfrm>
            <a:off x="-1" y="2768033"/>
            <a:ext cx="2525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66306-0124-9490-6A9A-2929FF12FAAD}"/>
              </a:ext>
            </a:extLst>
          </p:cNvPr>
          <p:cNvSpPr txBox="1"/>
          <p:nvPr/>
        </p:nvSpPr>
        <p:spPr>
          <a:xfrm>
            <a:off x="22770" y="3073710"/>
            <a:ext cx="60050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Edge AI-powered detection </a:t>
            </a:r>
            <a:r>
              <a:rPr lang="en-US" dirty="0"/>
              <a:t>– Edge AI-powered cameras capture plant images and detect infection in real-time.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Targeted Sprinkling</a:t>
            </a:r>
            <a:r>
              <a:rPr lang="en-US" dirty="0"/>
              <a:t> – Field divided into sections; sprinklers spray only on infected zones.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Prototype Demonstration</a:t>
            </a:r>
            <a:r>
              <a:rPr lang="en-IN" dirty="0"/>
              <a:t> – Raspberry Pi Zero 2W + Pump + Nozzle + Tray showing full cycle</a:t>
            </a:r>
          </a:p>
          <a:p>
            <a:r>
              <a:rPr lang="en-IN" b="1" dirty="0"/>
              <a:t>     (Camera → AI → Decision → Spray).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EF6CB-9137-083F-A7E3-3074015C954F}"/>
              </a:ext>
            </a:extLst>
          </p:cNvPr>
          <p:cNvSpPr txBox="1"/>
          <p:nvPr/>
        </p:nvSpPr>
        <p:spPr>
          <a:xfrm>
            <a:off x="-1" y="5046492"/>
            <a:ext cx="324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&amp; Uniqueness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DB5F2-8F64-2703-BDF3-18FAE3AF79E9}"/>
              </a:ext>
            </a:extLst>
          </p:cNvPr>
          <p:cNvSpPr txBox="1"/>
          <p:nvPr/>
        </p:nvSpPr>
        <p:spPr>
          <a:xfrm>
            <a:off x="66945" y="5306630"/>
            <a:ext cx="58685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Zone-based targeting</a:t>
            </a:r>
            <a:r>
              <a:rPr lang="en-US" dirty="0"/>
              <a:t> - Field divided into 4 smart sections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30-second response</a:t>
            </a:r>
            <a:r>
              <a:rPr lang="en-US" dirty="0"/>
              <a:t> - Detection to spray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70% pesticide reduction</a:t>
            </a:r>
            <a:r>
              <a:rPr lang="en-US" dirty="0"/>
              <a:t> - Spray only where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0E96C0-DFC6-B759-FB66-8190F667CF38}"/>
              </a:ext>
            </a:extLst>
          </p:cNvPr>
          <p:cNvSpPr/>
          <p:nvPr/>
        </p:nvSpPr>
        <p:spPr>
          <a:xfrm>
            <a:off x="6239774" y="1689955"/>
            <a:ext cx="5810712" cy="44479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D4D692-0A68-BC33-0B6A-B54E6309770A}"/>
              </a:ext>
            </a:extLst>
          </p:cNvPr>
          <p:cNvSpPr/>
          <p:nvPr/>
        </p:nvSpPr>
        <p:spPr>
          <a:xfrm>
            <a:off x="7539563" y="1253446"/>
            <a:ext cx="322129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b="1" dirty="0"/>
              <a:t>SYSTEM ARCHITECTURE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EB9B87-4914-5D06-273D-465B9D23B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454" y="1747052"/>
            <a:ext cx="5407352" cy="433771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8273C7F7-C909-8B43-B94E-CCEA0E4F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IDEA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3557F8-036B-CC25-D05F-73CAAA6AC008}"/>
              </a:ext>
            </a:extLst>
          </p:cNvPr>
          <p:cNvSpPr txBox="1"/>
          <p:nvPr/>
        </p:nvSpPr>
        <p:spPr>
          <a:xfrm>
            <a:off x="-16143" y="1069786"/>
            <a:ext cx="2430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5A158-DF2A-CD60-4203-AA665E1CB72C}"/>
              </a:ext>
            </a:extLst>
          </p:cNvPr>
          <p:cNvSpPr txBox="1"/>
          <p:nvPr/>
        </p:nvSpPr>
        <p:spPr>
          <a:xfrm>
            <a:off x="95870" y="1395246"/>
            <a:ext cx="25764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Components Used: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A5CAD-2B7F-139B-F16B-032988626741}"/>
              </a:ext>
            </a:extLst>
          </p:cNvPr>
          <p:cNvSpPr txBox="1"/>
          <p:nvPr/>
        </p:nvSpPr>
        <p:spPr>
          <a:xfrm>
            <a:off x="95870" y="1674177"/>
            <a:ext cx="45202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Raspberry Pi Zero 2W, 32 GB SD Card, Pi Camera Module 2, Camera Ribbon, Jumper Wires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5V Relay Module, 6V DC Pump, Nozzle, 5V Battery, Pi Power Supply, Plastic Tray</a:t>
            </a:r>
            <a:endParaRPr lang="en-IN" sz="1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290308-CAF9-EFD3-CD95-431B7B7DCCB9}"/>
              </a:ext>
            </a:extLst>
          </p:cNvPr>
          <p:cNvSpPr txBox="1"/>
          <p:nvPr/>
        </p:nvSpPr>
        <p:spPr>
          <a:xfrm>
            <a:off x="95870" y="2765285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2A9161-AE4C-022E-70B3-CAD8B9E6DCD0}"/>
              </a:ext>
            </a:extLst>
          </p:cNvPr>
          <p:cNvSpPr txBox="1"/>
          <p:nvPr/>
        </p:nvSpPr>
        <p:spPr>
          <a:xfrm>
            <a:off x="117405" y="3083513"/>
            <a:ext cx="46352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Image Preprocessing → resize + normalize captured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TensorFlow Lite Model (CNN classifier) </a:t>
            </a:r>
            <a:r>
              <a:rPr lang="en-IN" sz="1600" dirty="0"/>
              <a:t>→ detects plant condition: Healthy / Mild / Severe infection.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Decision Logic →</a:t>
            </a:r>
          </a:p>
          <a:p>
            <a:r>
              <a:rPr lang="en-IN" sz="1600" dirty="0"/>
              <a:t>          </a:t>
            </a:r>
            <a:r>
              <a:rPr lang="en-IN" sz="1600" b="1" dirty="0"/>
              <a:t>Healthy → No spray</a:t>
            </a:r>
          </a:p>
          <a:p>
            <a:r>
              <a:rPr lang="en-IN" sz="1600" dirty="0"/>
              <a:t>          </a:t>
            </a:r>
            <a:r>
              <a:rPr lang="en-IN" sz="1600" b="1" dirty="0"/>
              <a:t>Mild → Spray 10 ml</a:t>
            </a:r>
          </a:p>
          <a:p>
            <a:r>
              <a:rPr lang="en-IN" sz="1600" dirty="0"/>
              <a:t>          </a:t>
            </a:r>
            <a:r>
              <a:rPr lang="en-IN" sz="1600" b="1" dirty="0"/>
              <a:t>Severe → Spray 30 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Safety Checks </a:t>
            </a:r>
            <a:r>
              <a:rPr lang="en-IN" sz="1600" dirty="0"/>
              <a:t>→ water level OK? flow within expected range?.</a:t>
            </a:r>
          </a:p>
        </p:txBody>
      </p:sp>
      <p:pic>
        <p:nvPicPr>
          <p:cNvPr id="2050" name="Picture 2" descr="Raspberry Pi Zero 2WH Raspberry Pi Zero ...">
            <a:extLst>
              <a:ext uri="{FF2B5EF4-FFF2-40B4-BE49-F238E27FC236}">
                <a16:creationId xmlns:a16="http://schemas.microsoft.com/office/drawing/2014/main" id="{CFCB497F-90C9-D38D-6426-23F4382E7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24" y="5548965"/>
            <a:ext cx="985365" cy="86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cure Digital, SD card PNG transparent ...">
            <a:extLst>
              <a:ext uri="{FF2B5EF4-FFF2-40B4-BE49-F238E27FC236}">
                <a16:creationId xmlns:a16="http://schemas.microsoft.com/office/drawing/2014/main" id="{FA695E0A-7AE0-43AF-9902-E329AD159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207" y="6313247"/>
            <a:ext cx="496272" cy="544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aspberry Pi Camera Module 3 - The Pi Hut">
            <a:extLst>
              <a:ext uri="{FF2B5EF4-FFF2-40B4-BE49-F238E27FC236}">
                <a16:creationId xmlns:a16="http://schemas.microsoft.com/office/drawing/2014/main" id="{1E634CA6-D5FB-146F-C49C-41BBE06A1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" y="6164960"/>
            <a:ext cx="864023" cy="65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BC-32627 BUD INDUSTRIES, Jumper Wire, Bundle, Multi-colour | element14 India">
            <a:extLst>
              <a:ext uri="{FF2B5EF4-FFF2-40B4-BE49-F238E27FC236}">
                <a16:creationId xmlns:a16="http://schemas.microsoft.com/office/drawing/2014/main" id="{E38E7A1B-81A6-D030-49BF-615207B6B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778" y="6202896"/>
            <a:ext cx="879043" cy="63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5V Single Channel RELAY Module">
            <a:extLst>
              <a:ext uri="{FF2B5EF4-FFF2-40B4-BE49-F238E27FC236}">
                <a16:creationId xmlns:a16="http://schemas.microsoft.com/office/drawing/2014/main" id="{9E3D70A9-5CE0-95E4-D4E0-80415A5CD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008" y="5649250"/>
            <a:ext cx="631260" cy="63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ERH India 1 Pc DC 6v Mini Water Pump ...">
            <a:extLst>
              <a:ext uri="{FF2B5EF4-FFF2-40B4-BE49-F238E27FC236}">
                <a16:creationId xmlns:a16="http://schemas.microsoft.com/office/drawing/2014/main" id="{4D4D7DBD-07E0-B047-281A-172A9D597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781" y="6139972"/>
            <a:ext cx="784955" cy="71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Water spray nozzle on hose, white ...">
            <a:extLst>
              <a:ext uri="{FF2B5EF4-FFF2-40B4-BE49-F238E27FC236}">
                <a16:creationId xmlns:a16="http://schemas.microsoft.com/office/drawing/2014/main" id="{8862AAB2-DA13-9C56-2676-059AD8CEC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022" y="5521090"/>
            <a:ext cx="707029" cy="63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How to Use 5v battery: Pinouts, Specs ...">
            <a:extLst>
              <a:ext uri="{FF2B5EF4-FFF2-40B4-BE49-F238E27FC236}">
                <a16:creationId xmlns:a16="http://schemas.microsoft.com/office/drawing/2014/main" id="{60B9DBAC-5988-F91D-D5FA-7BCE626A7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848" y="5571118"/>
            <a:ext cx="642362" cy="63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Kuber Industries Plastic Stationary ...">
            <a:extLst>
              <a:ext uri="{FF2B5EF4-FFF2-40B4-BE49-F238E27FC236}">
                <a16:creationId xmlns:a16="http://schemas.microsoft.com/office/drawing/2014/main" id="{B3CFFDF2-277D-1C6D-207A-D73454B06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925" y="6127139"/>
            <a:ext cx="749938" cy="70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Raspberry Pi Official Power Supply ...">
            <a:extLst>
              <a:ext uri="{FF2B5EF4-FFF2-40B4-BE49-F238E27FC236}">
                <a16:creationId xmlns:a16="http://schemas.microsoft.com/office/drawing/2014/main" id="{ED6C27C8-5AEC-4B51-CE63-D382E0EFC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60" y="5387426"/>
            <a:ext cx="900670" cy="90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CF569D-E2B0-4DF5-0F25-7A57525E94E3}"/>
              </a:ext>
            </a:extLst>
          </p:cNvPr>
          <p:cNvSpPr/>
          <p:nvPr/>
        </p:nvSpPr>
        <p:spPr>
          <a:xfrm>
            <a:off x="7655709" y="953004"/>
            <a:ext cx="166788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FLOWCHART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5958C3E4-AEA5-0FA6-FE51-1F48173D0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183" y="6243411"/>
            <a:ext cx="507932" cy="50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ngodb SVG Logos - Logo Search">
            <a:extLst>
              <a:ext uri="{FF2B5EF4-FFF2-40B4-BE49-F238E27FC236}">
                <a16:creationId xmlns:a16="http://schemas.microsoft.com/office/drawing/2014/main" id="{72892727-5598-BC84-59E8-0E0AD73A4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228" y="5571118"/>
            <a:ext cx="709715" cy="70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ySQL | Austin TX">
            <a:extLst>
              <a:ext uri="{FF2B5EF4-FFF2-40B4-BE49-F238E27FC236}">
                <a16:creationId xmlns:a16="http://schemas.microsoft.com/office/drawing/2014/main" id="{3F110F91-16FF-07AE-CCF6-64405F84F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906" y="5649250"/>
            <a:ext cx="709715" cy="70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6BC75DD-6627-D098-47C8-16E81D97076F}"/>
              </a:ext>
            </a:extLst>
          </p:cNvPr>
          <p:cNvSpPr/>
          <p:nvPr/>
        </p:nvSpPr>
        <p:spPr>
          <a:xfrm>
            <a:off x="7655709" y="1339339"/>
            <a:ext cx="3741484" cy="53005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2" name="Picture 8" descr="HTML CSS JAVASCRIPT">
            <a:extLst>
              <a:ext uri="{FF2B5EF4-FFF2-40B4-BE49-F238E27FC236}">
                <a16:creationId xmlns:a16="http://schemas.microsoft.com/office/drawing/2014/main" id="{CBFA70C0-DD30-3DDE-FF0C-6F89BDFF2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108" y="5412577"/>
            <a:ext cx="1950417" cy="90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ensorflow · GitHub">
            <a:extLst>
              <a:ext uri="{FF2B5EF4-FFF2-40B4-BE49-F238E27FC236}">
                <a16:creationId xmlns:a16="http://schemas.microsoft.com/office/drawing/2014/main" id="{93617640-45E9-A493-A7F2-88395FF5C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535" y="6265176"/>
            <a:ext cx="560717" cy="56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F2A164-1F05-5165-1388-4B1A7A59F61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23861" y="1395246"/>
            <a:ext cx="3613504" cy="5129229"/>
          </a:xfrm>
          <a:prstGeom prst="rect">
            <a:avLst/>
          </a:prstGeom>
        </p:spPr>
      </p:pic>
      <p:pic>
        <p:nvPicPr>
          <p:cNvPr id="12" name="Picture 2" descr="Figma: view. comment. mirror. - Apps on ...">
            <a:extLst>
              <a:ext uri="{FF2B5EF4-FFF2-40B4-BE49-F238E27FC236}">
                <a16:creationId xmlns:a16="http://schemas.microsoft.com/office/drawing/2014/main" id="{B8A0B25E-F47A-D123-46AA-87A898F21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618" y="6305278"/>
            <a:ext cx="549505" cy="54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GitHub - opencv/opencv: Open Source ...">
            <a:extLst>
              <a:ext uri="{FF2B5EF4-FFF2-40B4-BE49-F238E27FC236}">
                <a16:creationId xmlns:a16="http://schemas.microsoft.com/office/drawing/2014/main" id="{1C3BEC73-4624-D8CA-2546-8CA02BFEC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778" y="6216896"/>
            <a:ext cx="605342" cy="60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D2BB1B84-9A6C-7087-06C5-FA22BA0FF9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52246"/>
            <a:ext cx="171029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SmartKissan</a:t>
            </a:r>
            <a:endParaRPr lang="en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C6FECE-096E-7F18-715F-6149EC895AED}"/>
              </a:ext>
            </a:extLst>
          </p:cNvPr>
          <p:cNvSpPr txBox="1"/>
          <p:nvPr/>
        </p:nvSpPr>
        <p:spPr>
          <a:xfrm>
            <a:off x="80513" y="1179965"/>
            <a:ext cx="2777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 &amp; Viability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0E5BA-F25E-4918-992F-DBC26CFBB6EC}"/>
              </a:ext>
            </a:extLst>
          </p:cNvPr>
          <p:cNvSpPr txBox="1"/>
          <p:nvPr/>
        </p:nvSpPr>
        <p:spPr>
          <a:xfrm>
            <a:off x="141515" y="1485016"/>
            <a:ext cx="65008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Prototype Cost:</a:t>
            </a:r>
            <a:r>
              <a:rPr lang="en-US" dirty="0"/>
              <a:t> </a:t>
            </a:r>
            <a:r>
              <a:rPr lang="en-US" b="1" dirty="0"/>
              <a:t>₹15,000 </a:t>
            </a:r>
            <a:r>
              <a:rPr lang="en-US" dirty="0"/>
              <a:t>(full setup for 1 acre)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Installation:</a:t>
            </a:r>
            <a:r>
              <a:rPr lang="en-US" dirty="0"/>
              <a:t> </a:t>
            </a:r>
            <a:r>
              <a:rPr lang="en-US" b="1" dirty="0"/>
              <a:t>4 hours </a:t>
            </a:r>
            <a:r>
              <a:rPr lang="en-US" dirty="0"/>
              <a:t>with plug-and-play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Training Required</a:t>
            </a:r>
            <a:r>
              <a:rPr lang="en-US" dirty="0"/>
              <a:t>: </a:t>
            </a:r>
            <a:r>
              <a:rPr lang="en-US" b="1" dirty="0"/>
              <a:t>2-hour</a:t>
            </a:r>
            <a:r>
              <a:rPr lang="en-US" dirty="0"/>
              <a:t> farmer workshop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Maintenance:</a:t>
            </a:r>
            <a:r>
              <a:rPr lang="en-IN" dirty="0"/>
              <a:t> </a:t>
            </a:r>
            <a:r>
              <a:rPr lang="en-IN" b="1" dirty="0"/>
              <a:t>Remote diagnostics </a:t>
            </a:r>
            <a:r>
              <a:rPr lang="en-IN" dirty="0"/>
              <a:t>+ local technician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Scalability: </a:t>
            </a:r>
            <a:r>
              <a:rPr lang="en-US" dirty="0"/>
              <a:t>Low-cost, </a:t>
            </a:r>
            <a:r>
              <a:rPr lang="en-US" b="1" dirty="0"/>
              <a:t>scalable hardware prototype </a:t>
            </a:r>
            <a:r>
              <a:rPr lang="en-US" dirty="0"/>
              <a:t>deployable from small farms to large agricultural fields.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15622-5EFC-4C47-1DD2-EEC86C3EF0DB}"/>
              </a:ext>
            </a:extLst>
          </p:cNvPr>
          <p:cNvSpPr txBox="1"/>
          <p:nvPr/>
        </p:nvSpPr>
        <p:spPr>
          <a:xfrm>
            <a:off x="80513" y="3279345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&amp; Solutions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468FEB-896A-4BAB-451D-59D81263D593}"/>
              </a:ext>
            </a:extLst>
          </p:cNvPr>
          <p:cNvSpPr/>
          <p:nvPr/>
        </p:nvSpPr>
        <p:spPr>
          <a:xfrm>
            <a:off x="267028" y="3741070"/>
            <a:ext cx="5351915" cy="29357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0A11068-9205-E43F-50C6-97E8332DF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023449"/>
              </p:ext>
            </p:extLst>
          </p:nvPr>
        </p:nvGraphicFramePr>
        <p:xfrm>
          <a:off x="319852" y="3781073"/>
          <a:ext cx="5351914" cy="3017520"/>
        </p:xfrm>
        <a:graphic>
          <a:graphicData uri="http://schemas.openxmlformats.org/drawingml/2006/table">
            <a:tbl>
              <a:tblPr/>
              <a:tblGrid>
                <a:gridCol w="2692061">
                  <a:extLst>
                    <a:ext uri="{9D8B030D-6E8A-4147-A177-3AD203B41FA5}">
                      <a16:colId xmlns:a16="http://schemas.microsoft.com/office/drawing/2014/main" val="2162850319"/>
                    </a:ext>
                  </a:extLst>
                </a:gridCol>
                <a:gridCol w="2659853">
                  <a:extLst>
                    <a:ext uri="{9D8B030D-6E8A-4147-A177-3AD203B41FA5}">
                      <a16:colId xmlns:a16="http://schemas.microsoft.com/office/drawing/2014/main" val="710261551"/>
                    </a:ext>
                  </a:extLst>
                </a:gridCol>
              </a:tblGrid>
              <a:tr h="348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0869"/>
                  </a:ext>
                </a:extLst>
              </a:tr>
              <a:tr h="6096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Weather damage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IP65 weatherproof housing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432605"/>
                  </a:ext>
                </a:extLst>
              </a:tr>
              <a:tr h="6096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Different crops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Transfer learning (2-day training)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275144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Network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Offline edge computing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963352"/>
                  </a:ext>
                </a:extLst>
              </a:tr>
              <a:tr h="6096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False positives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Dual verification (AI + sensors)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823328"/>
                  </a:ext>
                </a:extLst>
              </a:tr>
              <a:tr h="348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53004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91B2BE0-B103-709C-AD50-13DE1750F9B0}"/>
              </a:ext>
            </a:extLst>
          </p:cNvPr>
          <p:cNvSpPr txBox="1"/>
          <p:nvPr/>
        </p:nvSpPr>
        <p:spPr>
          <a:xfrm>
            <a:off x="6642340" y="1179965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E7FD5E-E738-7F98-6EB5-58DC0A488659}"/>
              </a:ext>
            </a:extLst>
          </p:cNvPr>
          <p:cNvSpPr txBox="1"/>
          <p:nvPr/>
        </p:nvSpPr>
        <p:spPr>
          <a:xfrm>
            <a:off x="6698574" y="1485016"/>
            <a:ext cx="54129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Small Farms &amp; Greenhouses</a:t>
            </a:r>
            <a:r>
              <a:rPr lang="en-US" dirty="0"/>
              <a:t> → Affordable solution for local farmers.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Agricultural Institutes</a:t>
            </a:r>
            <a:r>
              <a:rPr lang="en-US" dirty="0"/>
              <a:t> → Training tool for precision farming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Large Farms</a:t>
            </a:r>
            <a:r>
              <a:rPr lang="en-US" dirty="0"/>
              <a:t> → Multiple units for full-field coverage &amp; automation.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Government Schemes</a:t>
            </a:r>
            <a:r>
              <a:rPr lang="en-US" dirty="0"/>
              <a:t> → Smart agriculture, subsidy-driven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Agri-Tech Companies</a:t>
            </a:r>
            <a:r>
              <a:rPr lang="en-US" dirty="0"/>
              <a:t> → Integration into existing precision farming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Integration-Ready → </a:t>
            </a:r>
            <a:r>
              <a:rPr lang="en-US" dirty="0"/>
              <a:t>Compatible with existing </a:t>
            </a:r>
            <a:r>
              <a:rPr lang="en-US" dirty="0" err="1"/>
              <a:t>agri</a:t>
            </a:r>
            <a:r>
              <a:rPr lang="en-US" dirty="0"/>
              <a:t>-tech platforms, enabling adoption by FPOs and cooperatives.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76BC12-43C7-0B69-1189-85297C2FBEFF}"/>
              </a:ext>
            </a:extLst>
          </p:cNvPr>
          <p:cNvSpPr txBox="1"/>
          <p:nvPr/>
        </p:nvSpPr>
        <p:spPr>
          <a:xfrm>
            <a:off x="6648295" y="5117140"/>
            <a:ext cx="2537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Potential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33C7C1-0150-8E36-4E99-1441D7904C78}"/>
              </a:ext>
            </a:extLst>
          </p:cNvPr>
          <p:cNvSpPr txBox="1"/>
          <p:nvPr/>
        </p:nvSpPr>
        <p:spPr>
          <a:xfrm>
            <a:off x="6698574" y="5455334"/>
            <a:ext cx="52995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B2F (Business to Farmer):</a:t>
            </a:r>
            <a:r>
              <a:rPr lang="en-US" dirty="0"/>
              <a:t> Direct sales ₹15,000/unit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B2B:</a:t>
            </a:r>
            <a:r>
              <a:rPr lang="en-US" dirty="0"/>
              <a:t> Bulk orders to FPOs, cooperatives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Government:</a:t>
            </a:r>
            <a:r>
              <a:rPr lang="en-IN" dirty="0"/>
              <a:t> PM-KISAN scheme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87F0A5E1-7B33-5DF3-F99E-D913DC0D7D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52246"/>
            <a:ext cx="171029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SmartKissan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1117DE-EFD9-9CDD-0981-5E40FE2F6012}"/>
              </a:ext>
            </a:extLst>
          </p:cNvPr>
          <p:cNvSpPr/>
          <p:nvPr/>
        </p:nvSpPr>
        <p:spPr>
          <a:xfrm>
            <a:off x="264543" y="1538494"/>
            <a:ext cx="5147095" cy="4902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6B94A4-D694-0B61-2619-C4EB97EE2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04" y="1574289"/>
            <a:ext cx="4997570" cy="469588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991A9D-5D57-46A0-00E7-AB21AF6B213E}"/>
              </a:ext>
            </a:extLst>
          </p:cNvPr>
          <p:cNvSpPr/>
          <p:nvPr/>
        </p:nvSpPr>
        <p:spPr>
          <a:xfrm>
            <a:off x="1119877" y="1095004"/>
            <a:ext cx="322129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F34B22-FE18-5607-8AFC-E6CAA692955B}"/>
              </a:ext>
            </a:extLst>
          </p:cNvPr>
          <p:cNvSpPr txBox="1"/>
          <p:nvPr/>
        </p:nvSpPr>
        <p:spPr>
          <a:xfrm>
            <a:off x="6095999" y="1132268"/>
            <a:ext cx="312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the Solution</a:t>
            </a:r>
            <a:r>
              <a:rPr lang="en-IN" dirty="0"/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C026F-9753-923B-4FC2-1D487B07FF9C}"/>
              </a:ext>
            </a:extLst>
          </p:cNvPr>
          <p:cNvSpPr txBox="1"/>
          <p:nvPr/>
        </p:nvSpPr>
        <p:spPr>
          <a:xfrm>
            <a:off x="6185865" y="1464336"/>
            <a:ext cx="5941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Social &amp; Health - Safer farming</a:t>
            </a:r>
            <a:r>
              <a:rPr lang="en-US" dirty="0"/>
              <a:t>, reduced farmer exposure to harmful chemicals.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Economic </a:t>
            </a:r>
            <a:r>
              <a:rPr lang="en-IN" dirty="0"/>
              <a:t>– </a:t>
            </a:r>
            <a:r>
              <a:rPr lang="en-IN" b="1" dirty="0"/>
              <a:t>Saves cost </a:t>
            </a:r>
            <a:r>
              <a:rPr lang="en-IN" dirty="0"/>
              <a:t>by reducing pesticide wastage , increases yield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Environmental – Sustainable farming </a:t>
            </a:r>
            <a:r>
              <a:rPr lang="en-IN" dirty="0"/>
              <a:t>: less soil/water pollution, eco-friendly agriculture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Sustainable Smart Farming – </a:t>
            </a:r>
            <a:r>
              <a:rPr lang="en-US" dirty="0"/>
              <a:t>Promotes sustainable smart farming with AI-driven decision support for pesticide use.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6AE4DD-52A4-7A2A-D099-449519953613}"/>
              </a:ext>
            </a:extLst>
          </p:cNvPr>
          <p:cNvSpPr txBox="1"/>
          <p:nvPr/>
        </p:nvSpPr>
        <p:spPr>
          <a:xfrm>
            <a:off x="6121528" y="3943532"/>
            <a:ext cx="485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Impact on the Target Audience</a:t>
            </a:r>
            <a:endParaRPr lang="en-IN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03D813-7824-477A-BE5E-436D86F070C5}"/>
              </a:ext>
            </a:extLst>
          </p:cNvPr>
          <p:cNvSpPr txBox="1"/>
          <p:nvPr/>
        </p:nvSpPr>
        <p:spPr>
          <a:xfrm>
            <a:off x="6185865" y="4230695"/>
            <a:ext cx="58199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Farmers</a:t>
            </a:r>
            <a:r>
              <a:rPr lang="en-US" dirty="0"/>
              <a:t> – Cost savings, improved yield, healthier working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Communities</a:t>
            </a:r>
            <a:r>
              <a:rPr lang="en-US" dirty="0"/>
              <a:t> – Sustainable practices leading to safer food and cleaner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Government &amp; Policy Makers</a:t>
            </a:r>
            <a:r>
              <a:rPr lang="en-US" dirty="0"/>
              <a:t> – Supports smart agriculture and food security goals.</a:t>
            </a:r>
            <a:endParaRPr lang="en-IN" dirty="0"/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406A007C-408E-99E4-ABAD-122FA22CC7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52246"/>
            <a:ext cx="171029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SmartKissan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10FF31-3C82-293D-364F-748E0357A2C2}"/>
              </a:ext>
            </a:extLst>
          </p:cNvPr>
          <p:cNvSpPr txBox="1"/>
          <p:nvPr/>
        </p:nvSpPr>
        <p:spPr>
          <a:xfrm>
            <a:off x="141514" y="1179965"/>
            <a:ext cx="432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with Existing Systems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5660CA-0BAA-42E7-E725-DA2471B7A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89" y="1719296"/>
            <a:ext cx="5184362" cy="36348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CB6AC8-7AE3-6C5D-6463-6ACBD20C7410}"/>
              </a:ext>
            </a:extLst>
          </p:cNvPr>
          <p:cNvSpPr txBox="1"/>
          <p:nvPr/>
        </p:nvSpPr>
        <p:spPr>
          <a:xfrm>
            <a:off x="6250200" y="1179965"/>
            <a:ext cx="2768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 Reports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71994-E2D3-3FF5-79CF-43B8F1B289D3}"/>
              </a:ext>
            </a:extLst>
          </p:cNvPr>
          <p:cNvSpPr txBox="1"/>
          <p:nvPr/>
        </p:nvSpPr>
        <p:spPr>
          <a:xfrm>
            <a:off x="6330554" y="1439206"/>
            <a:ext cx="586878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EPA</a:t>
            </a:r>
            <a:r>
              <a:rPr lang="en-US" sz="1700" dirty="0"/>
              <a:t> (2021). </a:t>
            </a:r>
            <a:r>
              <a:rPr lang="en-US" sz="1700" i="1" dirty="0"/>
              <a:t>Emerging Agricultural Technologies Report</a:t>
            </a:r>
            <a:r>
              <a:rPr lang="en-US" sz="1700" dirty="0"/>
              <a:t>. EPA Office of Pesticide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ICAR</a:t>
            </a:r>
            <a:r>
              <a:rPr lang="en-IN" sz="1700" dirty="0"/>
              <a:t> (2024). </a:t>
            </a:r>
            <a:r>
              <a:rPr lang="en-IN" sz="1700" i="1" dirty="0"/>
              <a:t>Smart Agriculture Technologies Guidelines</a:t>
            </a:r>
            <a:r>
              <a:rPr lang="en-IN" sz="1700" dirty="0"/>
              <a:t>. New Delhi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FAO</a:t>
            </a:r>
            <a:r>
              <a:rPr lang="en-IN" sz="1700" dirty="0"/>
              <a:t> (2023). </a:t>
            </a:r>
            <a:r>
              <a:rPr lang="en-IN" sz="1700" i="1" dirty="0"/>
              <a:t>Agricultural Pesticide Application Guidelines</a:t>
            </a:r>
            <a:r>
              <a:rPr lang="en-IN" sz="1700" dirty="0"/>
              <a:t>. Rome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9498F9-AF59-0AB3-41BB-DDC9360C177C}"/>
              </a:ext>
            </a:extLst>
          </p:cNvPr>
          <p:cNvSpPr txBox="1"/>
          <p:nvPr/>
        </p:nvSpPr>
        <p:spPr>
          <a:xfrm>
            <a:off x="6279753" y="2963517"/>
            <a:ext cx="2140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FAO/ICAR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2401C-0145-EAFA-BDB8-07832A2EA46F}"/>
              </a:ext>
            </a:extLst>
          </p:cNvPr>
          <p:cNvSpPr txBox="1"/>
          <p:nvPr/>
        </p:nvSpPr>
        <p:spPr>
          <a:xfrm>
            <a:off x="6339798" y="3231053"/>
            <a:ext cx="5710687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FAO</a:t>
            </a:r>
            <a:r>
              <a:rPr lang="en-IN" sz="1700" dirty="0"/>
              <a:t> (2023). </a:t>
            </a:r>
            <a:r>
              <a:rPr lang="en-IN" sz="1700" i="1" dirty="0"/>
              <a:t>International Code of Conduct on Pesticide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FAO</a:t>
            </a:r>
            <a:r>
              <a:rPr lang="en-IN" sz="1700" dirty="0"/>
              <a:t> (2023). </a:t>
            </a:r>
            <a:r>
              <a:rPr lang="en-IN" sz="1700" i="1" dirty="0"/>
              <a:t>Pesticide Application Technology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ICAR</a:t>
            </a:r>
            <a:r>
              <a:rPr lang="en-IN" sz="1700" dirty="0"/>
              <a:t> (2023). </a:t>
            </a:r>
            <a:r>
              <a:rPr lang="en-IN" sz="1700" i="1" dirty="0"/>
              <a:t>Smart Agriculture Technologies for Disease Management</a:t>
            </a:r>
            <a:r>
              <a:rPr lang="en-IN" sz="1700" dirty="0"/>
              <a:t>. Ranchi</a:t>
            </a:r>
            <a:endParaRPr lang="en-IN" sz="17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F6F29-CCE3-74C9-EE72-6EFFDB7A7A13}"/>
              </a:ext>
            </a:extLst>
          </p:cNvPr>
          <p:cNvSpPr txBox="1"/>
          <p:nvPr/>
        </p:nvSpPr>
        <p:spPr>
          <a:xfrm>
            <a:off x="6339798" y="4562403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IEEE Papers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27E7EF-0473-665F-613B-37387DAA8E41}"/>
              </a:ext>
            </a:extLst>
          </p:cNvPr>
          <p:cNvSpPr txBox="1"/>
          <p:nvPr/>
        </p:nvSpPr>
        <p:spPr>
          <a:xfrm>
            <a:off x="6396974" y="4826116"/>
            <a:ext cx="5653512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Sunil, C. K., et al.</a:t>
            </a:r>
            <a:r>
              <a:rPr lang="en-US" sz="1700" dirty="0"/>
              <a:t> (2022). Cardamom Plant Disease Detection Using EfficientNetV2. </a:t>
            </a:r>
            <a:r>
              <a:rPr lang="en-US" sz="1700" i="1" dirty="0"/>
              <a:t>IEEE Access</a:t>
            </a:r>
            <a:r>
              <a:rPr lang="en-US" sz="1700" dirty="0"/>
              <a:t>, 10, 789-804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Zhang, L., et al.</a:t>
            </a:r>
            <a:r>
              <a:rPr lang="en-IN" sz="1700" dirty="0"/>
              <a:t> (2024). Real-time Disease Detection and Automated Pesticide Application. </a:t>
            </a:r>
            <a:r>
              <a:rPr lang="en-IN" sz="1700" i="1" dirty="0"/>
              <a:t>IEEE Trans. Automation Science</a:t>
            </a:r>
            <a:r>
              <a:rPr lang="en-IN" sz="1700" dirty="0"/>
              <a:t>, 21(3), 1245-1258</a:t>
            </a:r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AC9BC59B-F532-3B99-2BB9-CCFA946F28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252246"/>
            <a:ext cx="171029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SmartKissan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8131</TotalTime>
  <Words>724</Words>
  <Application>Microsoft Office PowerPoint</Application>
  <PresentationFormat>Widescreen</PresentationFormat>
  <Paragraphs>107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Abhinab Kumar Das</cp:lastModifiedBy>
  <cp:revision>157</cp:revision>
  <dcterms:created xsi:type="dcterms:W3CDTF">2013-12-12T18:46:50Z</dcterms:created>
  <dcterms:modified xsi:type="dcterms:W3CDTF">2026-07-22T10:26:11Z</dcterms:modified>
  <cp:category/>
</cp:coreProperties>
</file>