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71" r:id="rId6"/>
    <p:sldId id="261" r:id="rId7"/>
    <p:sldId id="272" r:id="rId8"/>
    <p:sldId id="262" r:id="rId9"/>
    <p:sldId id="274" r:id="rId10"/>
    <p:sldId id="263" r:id="rId11"/>
    <p:sldId id="264" r:id="rId12"/>
    <p:sldId id="275" r:id="rId13"/>
    <p:sldId id="265" r:id="rId14"/>
    <p:sldId id="266" r:id="rId15"/>
    <p:sldId id="267" r:id="rId16"/>
    <p:sldId id="276" r:id="rId17"/>
    <p:sldId id="268" r:id="rId18"/>
    <p:sldId id="269" r:id="rId19"/>
    <p:sldId id="270" r:id="rId20"/>
  </p:sldIdLst>
  <p:sldSz cx="9144000" cy="5143500" type="screen16x9"/>
  <p:notesSz cx="51435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k7hJe80kKj0htZfIf915YMJTl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2517EF-609B-4511-B89A-F292CE354342}">
  <a:tblStyle styleId="{852517EF-609B-4511-B89A-F292CE354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10557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873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f7585161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g3bf7585161d_0_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bf7585161d_0_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19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262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15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2988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128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3104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060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8553AD4-3410-FAB5-0EAC-511BB55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>
            <a:extLst>
              <a:ext uri="{FF2B5EF4-FFF2-40B4-BE49-F238E27FC236}">
                <a16:creationId xmlns:a16="http://schemas.microsoft.com/office/drawing/2014/main" id="{FD6C67F0-3FFB-9C01-1683-836FEFE2B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6:notes">
            <a:extLst>
              <a:ext uri="{FF2B5EF4-FFF2-40B4-BE49-F238E27FC236}">
                <a16:creationId xmlns:a16="http://schemas.microsoft.com/office/drawing/2014/main" id="{8FE9062F-7875-F55A-BED9-4811A18DE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:notes">
            <a:extLst>
              <a:ext uri="{FF2B5EF4-FFF2-40B4-BE49-F238E27FC236}">
                <a16:creationId xmlns:a16="http://schemas.microsoft.com/office/drawing/2014/main" id="{399145B2-FFD6-3267-C5AC-5B22B95792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0726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0425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7585161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bf7585161d_0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bf7585161d_0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1674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A9FE1FF-8363-762B-EA79-6CBD9F40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7585161d_0_2:notes">
            <a:extLst>
              <a:ext uri="{FF2B5EF4-FFF2-40B4-BE49-F238E27FC236}">
                <a16:creationId xmlns:a16="http://schemas.microsoft.com/office/drawing/2014/main" id="{5C2761B3-B7F0-5CE0-C874-BE3610722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bf7585161d_0_2:notes">
            <a:extLst>
              <a:ext uri="{FF2B5EF4-FFF2-40B4-BE49-F238E27FC236}">
                <a16:creationId xmlns:a16="http://schemas.microsoft.com/office/drawing/2014/main" id="{BD661DF8-20C5-CBCB-0B50-4BD9131D6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bf7585161d_0_2:notes">
            <a:extLst>
              <a:ext uri="{FF2B5EF4-FFF2-40B4-BE49-F238E27FC236}">
                <a16:creationId xmlns:a16="http://schemas.microsoft.com/office/drawing/2014/main" id="{90100ECA-C5D4-CA16-4946-44FB878B1E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58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302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f7585161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bf7585161d_0_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f7585161d_0_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381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f7585161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bf7585161d_0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f7585161d_0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5660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00F2CA3-EB6B-4166-2FE3-DE69C4E3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f7585161d_0_24:notes">
            <a:extLst>
              <a:ext uri="{FF2B5EF4-FFF2-40B4-BE49-F238E27FC236}">
                <a16:creationId xmlns:a16="http://schemas.microsoft.com/office/drawing/2014/main" id="{C64B7A20-FBED-E303-F04E-EC63C584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bf7585161d_0_24:notes">
            <a:extLst>
              <a:ext uri="{FF2B5EF4-FFF2-40B4-BE49-F238E27FC236}">
                <a16:creationId xmlns:a16="http://schemas.microsoft.com/office/drawing/2014/main" id="{216A48C2-4721-EC5A-06BD-CEBA11AB9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f7585161d_0_24:notes">
            <a:extLst>
              <a:ext uri="{FF2B5EF4-FFF2-40B4-BE49-F238E27FC236}">
                <a16:creationId xmlns:a16="http://schemas.microsoft.com/office/drawing/2014/main" id="{8A57CA41-B147-8032-07AC-0EF859463A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5272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acf3f251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bacf3f2511_4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bacf3f2511_4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0972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9134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f7585161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bf7585161d_0_3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bf7585161d_0_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988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https://images.unsplash.com/photo-1635776062043-223faf322554?crop=entropy&amp;cs=tinysrgb&amp;fit=max&amp;fm=jpg&amp;ixid=M3wyMTIyMnwwfDF8c2VhcmNofDY4fHxncmFkaWVudHxlbnwwfHx8fDE2OTg3NDA1OTZ8MA&amp;ixlib=rb-4.0.3&amp;q=80&amp;w=10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126" y="4430964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 descr="https://pitch-assets-ccb95893-de3f-4266-973c-20049231b248.s3.eu-west-1.amazonaws.com/4d32833c-298b-4fb5-b802-4299c9ae094a?pitch-bytes=3223&amp;pitch-content-type=image%2F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8329" y="4412008"/>
            <a:ext cx="1385671" cy="731492"/>
          </a:xfrm>
          <a:prstGeom prst="rect">
            <a:avLst/>
          </a:prstGeom>
          <a:noFill/>
          <a:ln>
            <a:noFill/>
          </a:ln>
          <a:effectLst>
            <a:outerShdw blurRad="3175" dist="50800" dir="2700000" algn="bl" rotWithShape="0">
              <a:srgbClr val="000000">
                <a:alpha val="23921"/>
              </a:srgbClr>
            </a:outerShdw>
          </a:effectLst>
        </p:spPr>
      </p:pic>
      <p:pic>
        <p:nvPicPr>
          <p:cNvPr id="15" name="Google Shape;15;p1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01998"/>
            <a:ext cx="1268774" cy="12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1186400" y="1370775"/>
            <a:ext cx="73299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700" b="1" i="0" u="sng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Team Name</a:t>
            </a:r>
            <a:r>
              <a:rPr lang="en-US" sz="1700" b="1" i="0" u="none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n-IN" sz="1800" dirty="0"/>
              <a:t>Smart </a:t>
            </a:r>
            <a:r>
              <a:rPr lang="en-IN" sz="1800" dirty="0" err="1"/>
              <a:t>Kissan</a:t>
            </a:r>
            <a:endParaRPr sz="1700" b="1" dirty="0">
              <a:solidFill>
                <a:srgbClr val="2B2A35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lnSpc>
                <a:spcPct val="200000"/>
              </a:lnSpc>
            </a:pPr>
            <a:r>
              <a:rPr lang="en-US" sz="1700" b="1" i="0" u="sng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Problem Statement Title</a:t>
            </a:r>
            <a:r>
              <a:rPr lang="en-US" sz="1700" b="1" i="0" u="none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n-US" sz="1800" dirty="0"/>
              <a:t>AI-Based Crop Disease Detection &amp; Smart      Farming Advisory System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sng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Team Leader Name</a:t>
            </a:r>
            <a:r>
              <a:rPr lang="en-US" sz="1700" b="1" i="0" u="none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  <a:p>
            <a:pPr lvl="0">
              <a:lnSpc>
                <a:spcPct val="200000"/>
              </a:lnSpc>
            </a:pPr>
            <a:r>
              <a:rPr lang="en-US" sz="1700" b="1" i="0" u="sng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Institute Name</a:t>
            </a:r>
            <a:r>
              <a:rPr lang="en-US" sz="1700" b="1" i="0" u="none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en-IN" sz="1800" dirty="0"/>
              <a:t>ITER, SOA University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sng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Team Lead Contact Number</a:t>
            </a:r>
            <a:r>
              <a:rPr lang="en-US" sz="1700" b="1" i="0" u="none" strike="noStrike" cap="none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1"/>
          <p:cNvGrpSpPr/>
          <p:nvPr/>
        </p:nvGrpSpPr>
        <p:grpSpPr>
          <a:xfrm>
            <a:off x="1050393" y="396062"/>
            <a:ext cx="7917600" cy="974712"/>
            <a:chOff x="1050393" y="377337"/>
            <a:chExt cx="7917600" cy="974712"/>
          </a:xfrm>
        </p:grpSpPr>
        <p:grpSp>
          <p:nvGrpSpPr>
            <p:cNvPr id="18" name="Google Shape;18;p1"/>
            <p:cNvGrpSpPr/>
            <p:nvPr/>
          </p:nvGrpSpPr>
          <p:grpSpPr>
            <a:xfrm>
              <a:off x="1226963" y="377337"/>
              <a:ext cx="7103927" cy="343812"/>
              <a:chOff x="1161650" y="377337"/>
              <a:chExt cx="7103927" cy="343812"/>
            </a:xfrm>
          </p:grpSpPr>
          <p:sp>
            <p:nvSpPr>
              <p:cNvPr id="19" name="Google Shape;19;p1"/>
              <p:cNvSpPr/>
              <p:nvPr/>
            </p:nvSpPr>
            <p:spPr>
              <a:xfrm>
                <a:off x="3659465" y="377337"/>
                <a:ext cx="2119461" cy="343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2854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 i="0" u="sng" strike="noStrike" cap="none">
                    <a:solidFill>
                      <a:srgbClr val="2B2A35"/>
                    </a:solidFill>
                    <a:latin typeface="Inter"/>
                    <a:ea typeface="Inter"/>
                    <a:cs typeface="Inter"/>
                    <a:sym typeface="Inter"/>
                  </a:rPr>
                  <a:t>Trithon 202</a:t>
                </a:r>
                <a:r>
                  <a:rPr lang="en-US" sz="2200" b="1" u="sng">
                    <a:solidFill>
                      <a:srgbClr val="2B2A35"/>
                    </a:solidFill>
                    <a:latin typeface="Inter"/>
                    <a:ea typeface="Inter"/>
                    <a:cs typeface="Inter"/>
                    <a:sym typeface="Inter"/>
                  </a:rPr>
                  <a:t>6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1161650" y="557512"/>
                <a:ext cx="2468655" cy="0"/>
              </a:xfrm>
              <a:prstGeom prst="straightConnector1">
                <a:avLst/>
              </a:prstGeom>
              <a:solidFill>
                <a:srgbClr val="FFFFFF"/>
              </a:solidFill>
              <a:ln w="21150" cap="flat" cmpd="sng">
                <a:solidFill>
                  <a:srgbClr val="2B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" name="Google Shape;21;p1"/>
              <p:cNvCxnSpPr/>
              <p:nvPr/>
            </p:nvCxnSpPr>
            <p:spPr>
              <a:xfrm>
                <a:off x="5778926" y="561842"/>
                <a:ext cx="2486651" cy="0"/>
              </a:xfrm>
              <a:prstGeom prst="straightConnector1">
                <a:avLst/>
              </a:prstGeom>
              <a:solidFill>
                <a:srgbClr val="FFFFFF"/>
              </a:solidFill>
              <a:ln w="21150" cap="flat" cmpd="sng">
                <a:solidFill>
                  <a:srgbClr val="2B2A3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2" name="Google Shape;22;p1"/>
            <p:cNvSpPr txBox="1"/>
            <p:nvPr/>
          </p:nvSpPr>
          <p:spPr>
            <a:xfrm>
              <a:off x="1050393" y="721149"/>
              <a:ext cx="79176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heme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</a:t>
              </a:r>
              <a:r>
                <a:rPr lang="en-US" sz="1700" b="1">
                  <a:solidFill>
                    <a:srgbClr val="4A86E8"/>
                  </a:solidFill>
                  <a:latin typeface="Calibri"/>
                  <a:ea typeface="Calibri"/>
                  <a:cs typeface="Calibri"/>
                  <a:sym typeface="Calibri"/>
                </a:rPr>
                <a:t>Innovative improvement in Agriculture / Healthcare /   Environment/Energy/ Education using AI/ ML/ DL / LLM Technologies</a:t>
              </a:r>
              <a:endParaRPr sz="1300">
                <a:solidFill>
                  <a:srgbClr val="4A86E8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g3bf7585161d_0_56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g3bf7585161d_0_56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g3bf7585161d_0_56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817" y="0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g3bf7585161d_0_56"/>
          <p:cNvCxnSpPr/>
          <p:nvPr/>
        </p:nvCxnSpPr>
        <p:spPr>
          <a:xfrm>
            <a:off x="4861244" y="4797401"/>
            <a:ext cx="3807000" cy="228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g3bf7585161d_0_56"/>
          <p:cNvSpPr/>
          <p:nvPr/>
        </p:nvSpPr>
        <p:spPr>
          <a:xfrm>
            <a:off x="1129751" y="566687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The Overview</a:t>
            </a:r>
            <a:r>
              <a:rPr lang="en-US" sz="3600" b="1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bf7585161d_0_56"/>
          <p:cNvSpPr/>
          <p:nvPr/>
        </p:nvSpPr>
        <p:spPr>
          <a:xfrm>
            <a:off x="881425" y="1171525"/>
            <a:ext cx="7595100" cy="29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749" y="1283248"/>
            <a:ext cx="79278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Smart </a:t>
            </a:r>
            <a:r>
              <a:rPr lang="en-US" sz="1600" dirty="0" err="1"/>
              <a:t>Kissan</a:t>
            </a:r>
            <a:r>
              <a:rPr lang="en-US" sz="1600" dirty="0"/>
              <a:t> is an </a:t>
            </a:r>
            <a:r>
              <a:rPr lang="en-US" sz="1600" b="1" dirty="0"/>
              <a:t>AI-powered smart farming</a:t>
            </a:r>
            <a:r>
              <a:rPr lang="en-US" sz="1600" dirty="0"/>
              <a:t> </a:t>
            </a:r>
            <a:r>
              <a:rPr lang="en-US" sz="1600" b="1" dirty="0"/>
              <a:t>platform</a:t>
            </a:r>
            <a:r>
              <a:rPr lang="en-US" sz="1600" dirty="0"/>
              <a:t> that enables farmers to detect crop diseases instantly using leaf images and receive intelligent, weather-aware treatment recommendations in real time.</a:t>
            </a:r>
          </a:p>
          <a:p>
            <a:pPr algn="just"/>
            <a:endParaRPr lang="en-US" sz="1600" dirty="0"/>
          </a:p>
          <a:p>
            <a:pPr algn="just"/>
            <a:r>
              <a:rPr lang="en-IN" sz="1600" dirty="0"/>
              <a:t>Core Technologies Used: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Deep Learning (CNN) for leaf disease classification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Smart Decision Engine for pesticide &amp; dosage calculation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Weather Intelligence API for spray timing optimization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LLM-based </a:t>
            </a:r>
            <a:r>
              <a:rPr lang="en-US" sz="1600" b="1" dirty="0"/>
              <a:t>multilingual</a:t>
            </a:r>
            <a:r>
              <a:rPr lang="en-US" sz="1600" dirty="0"/>
              <a:t> advisory system (Hindi &amp; English)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Smart Irrigation Control Module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/>
          </a:p>
          <a:p>
            <a:pPr algn="just"/>
            <a:r>
              <a:rPr lang="en-US" sz="1600" dirty="0"/>
              <a:t>The platform is mobile-friendly and designed specifically for rural farmers.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3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3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3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3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3"/>
          <p:cNvSpPr/>
          <p:nvPr/>
        </p:nvSpPr>
        <p:spPr>
          <a:xfrm>
            <a:off x="1129751" y="658974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r>
              <a:rPr lang="en-US" sz="3600" b="1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03375" y="1280975"/>
            <a:ext cx="75951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4824" y="1349122"/>
            <a:ext cx="784167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Agriculture in India faces major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Difficulty in early and accurate disease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Incorrect pesticide usage leading to crop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access to agricultural experts in rural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Language barriers in digital farming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Unpredictable weather affecting spray decisions</a:t>
            </a:r>
          </a:p>
          <a:p>
            <a:endParaRPr lang="en-US" sz="1600" dirty="0"/>
          </a:p>
          <a:p>
            <a:r>
              <a:rPr lang="en-US" sz="1600" b="1" dirty="0"/>
              <a:t>As a result, farmers depend on guesswork or local advice, often leading to financial loss and reduced productivity. There is a strong need for an intelligent, affordable, and real-time AI-based farming assistant.</a:t>
            </a:r>
            <a:endParaRPr lang="en-US" sz="1600" dirty="0"/>
          </a:p>
          <a:p>
            <a:endParaRPr lang="en-US" sz="1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4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4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4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4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4"/>
          <p:cNvSpPr/>
          <p:nvPr/>
        </p:nvSpPr>
        <p:spPr>
          <a:xfrm>
            <a:off x="1129751" y="658974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Solution Suggested</a:t>
            </a:r>
            <a:r>
              <a:rPr lang="en-US" sz="3600" b="1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92475" y="1327125"/>
            <a:ext cx="75951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749" y="1327114"/>
            <a:ext cx="807246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/>
              <a:t>Smart </a:t>
            </a:r>
            <a:r>
              <a:rPr lang="en-IN" sz="1600" dirty="0" err="1"/>
              <a:t>Kissan</a:t>
            </a:r>
            <a:r>
              <a:rPr lang="en-IN" sz="1600" dirty="0"/>
              <a:t> provides:</a:t>
            </a:r>
          </a:p>
          <a:p>
            <a:r>
              <a:rPr lang="en-IN" b="1" dirty="0"/>
              <a:t>1.AI-Based Leaf Disease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Farmer uploads infected leaf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CNN model predicts disease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Calculates infection percentage &amp; risk level</a:t>
            </a:r>
          </a:p>
          <a:p>
            <a:r>
              <a:rPr lang="en-US" b="1" dirty="0"/>
              <a:t>2.</a:t>
            </a:r>
            <a:r>
              <a:rPr lang="en-IN" dirty="0"/>
              <a:t> </a:t>
            </a:r>
            <a:r>
              <a:rPr lang="en-IN" b="1" dirty="0"/>
              <a:t>Smart Pesticide &amp; Dosage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Suggests suitable pesticide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exact dosage (e.g., 40ml per 15L tank)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Recommends spray interval</a:t>
            </a:r>
          </a:p>
          <a:p>
            <a:r>
              <a:rPr lang="en-IN" b="1" dirty="0"/>
              <a:t>3. Weather-Integrated Advisory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real-time temperature &amp; humidity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Optimizes spray timing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Prevents spraying before rainfall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E43AB-EC42-1965-B60B-FEE8DF6F1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631" y="240209"/>
            <a:ext cx="3427661" cy="4663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4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4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4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4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4"/>
          <p:cNvSpPr/>
          <p:nvPr/>
        </p:nvSpPr>
        <p:spPr>
          <a:xfrm>
            <a:off x="1129751" y="658974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Solution Suggested(Continued)</a:t>
            </a:r>
            <a:r>
              <a:rPr lang="en-US" sz="3600" b="1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92475" y="1327125"/>
            <a:ext cx="75951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749" y="1419415"/>
            <a:ext cx="78763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</a:t>
            </a:r>
            <a:r>
              <a:rPr lang="en-IN" b="1" dirty="0"/>
              <a:t>Multilingual AI Assistant (LLM-Based)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 Hindi &amp; English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Answers crop &amp; weather-related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Gives simple farmer-friendly guidance</a:t>
            </a:r>
          </a:p>
          <a:p>
            <a:r>
              <a:rPr lang="en-IN" b="1" dirty="0"/>
              <a:t>5.</a:t>
            </a:r>
            <a:r>
              <a:rPr lang="en-IN" dirty="0"/>
              <a:t> </a:t>
            </a:r>
            <a:r>
              <a:rPr lang="en-IN" b="1" dirty="0"/>
              <a:t>Smart Irrigation Control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 pump based on soil moisture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 override 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Tank level &amp; system status monitoring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5449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8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8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8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8"/>
          <p:cNvCxnSpPr/>
          <p:nvPr/>
        </p:nvCxnSpPr>
        <p:spPr>
          <a:xfrm>
            <a:off x="4861244" y="4818185"/>
            <a:ext cx="3807576" cy="13462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8"/>
          <p:cNvSpPr/>
          <p:nvPr/>
        </p:nvSpPr>
        <p:spPr>
          <a:xfrm>
            <a:off x="1129751" y="658974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r>
              <a:rPr lang="en-US" sz="3600" b="1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0403618" y="3535193"/>
            <a:ext cx="45719" cy="87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4824" y="1318344"/>
            <a:ext cx="783782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1. </a:t>
            </a:r>
            <a:r>
              <a:rPr lang="en-IN" sz="1600" b="1" dirty="0"/>
              <a:t>Frontend:</a:t>
            </a:r>
            <a:br>
              <a:rPr lang="en-IN" sz="1600" dirty="0"/>
            </a:br>
            <a:r>
              <a:rPr lang="en-IN" sz="1600" dirty="0"/>
              <a:t>▪ HTML, CSS, JavaScript</a:t>
            </a:r>
            <a:br>
              <a:rPr lang="en-IN" sz="1600" dirty="0"/>
            </a:br>
            <a:r>
              <a:rPr lang="en-IN" sz="1600" dirty="0"/>
              <a:t>▪ Responsive &amp; Mobile-Friendly UI</a:t>
            </a:r>
          </a:p>
          <a:p>
            <a:r>
              <a:rPr lang="en-IN" sz="1600" dirty="0"/>
              <a:t>2.</a:t>
            </a:r>
            <a:r>
              <a:rPr lang="en-US" sz="1600" dirty="0"/>
              <a:t> </a:t>
            </a:r>
            <a:r>
              <a:rPr lang="en-US" sz="1600" b="1" dirty="0"/>
              <a:t>Backend:</a:t>
            </a:r>
            <a:br>
              <a:rPr lang="en-US" sz="1600" dirty="0"/>
            </a:br>
            <a:r>
              <a:rPr lang="en-US" sz="1600" dirty="0"/>
              <a:t>▪ Python (Flask / </a:t>
            </a:r>
            <a:r>
              <a:rPr lang="en-US" sz="1600" dirty="0" err="1"/>
              <a:t>FastAPI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▪ REST API Architecture</a:t>
            </a:r>
            <a:endParaRPr lang="en-IN" sz="1600" dirty="0"/>
          </a:p>
          <a:p>
            <a:r>
              <a:rPr lang="en-IN" sz="1600" dirty="0"/>
              <a:t>3. </a:t>
            </a:r>
            <a:r>
              <a:rPr lang="en-IN" sz="1600" b="1" dirty="0"/>
              <a:t>AI &amp; Deep Learning:</a:t>
            </a:r>
            <a:br>
              <a:rPr lang="en-IN" sz="1600" dirty="0"/>
            </a:br>
            <a:r>
              <a:rPr lang="en-IN" sz="1600" dirty="0"/>
              <a:t>▪ TensorFlow</a:t>
            </a:r>
            <a:br>
              <a:rPr lang="en-IN" sz="1600" dirty="0"/>
            </a:br>
            <a:r>
              <a:rPr lang="en-IN" sz="1600" dirty="0"/>
              <a:t>▪ You Only Look Once</a:t>
            </a:r>
            <a:br>
              <a:rPr lang="en-IN" sz="1600" dirty="0"/>
            </a:br>
            <a:r>
              <a:rPr lang="en-IN" sz="1600" dirty="0"/>
              <a:t>▪ Image Preprocessing &amp; Classification</a:t>
            </a:r>
          </a:p>
          <a:p>
            <a:r>
              <a:rPr lang="en-IN" sz="1600" dirty="0"/>
              <a:t>4.</a:t>
            </a:r>
            <a:r>
              <a:rPr lang="en-US" sz="1600" b="1" dirty="0"/>
              <a:t> Deep Learning Model:</a:t>
            </a:r>
          </a:p>
          <a:p>
            <a:r>
              <a:rPr lang="en-US" sz="1600" dirty="0"/>
              <a:t>▪ Transfer Learning-based CNN</a:t>
            </a:r>
          </a:p>
          <a:p>
            <a:endParaRPr lang="en-IN" sz="1600" dirty="0"/>
          </a:p>
        </p:txBody>
      </p:sp>
      <p:pic>
        <p:nvPicPr>
          <p:cNvPr id="2" name="Picture 8" descr="HTML CSS JAVASCRIPT">
            <a:extLst>
              <a:ext uri="{FF2B5EF4-FFF2-40B4-BE49-F238E27FC236}">
                <a16:creationId xmlns:a16="http://schemas.microsoft.com/office/drawing/2014/main" id="{D45DF944-89B8-8659-8F04-94B4D9829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097" y="1382400"/>
            <a:ext cx="1950417" cy="90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tensorflow · GitHub">
            <a:extLst>
              <a:ext uri="{FF2B5EF4-FFF2-40B4-BE49-F238E27FC236}">
                <a16:creationId xmlns:a16="http://schemas.microsoft.com/office/drawing/2014/main" id="{8AC4A810-38FC-105A-AD2A-B62BC0039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663" y="2347126"/>
            <a:ext cx="560717" cy="56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ython (programming language) - Wikipedia">
            <a:extLst>
              <a:ext uri="{FF2B5EF4-FFF2-40B4-BE49-F238E27FC236}">
                <a16:creationId xmlns:a16="http://schemas.microsoft.com/office/drawing/2014/main" id="{77D8792A-9DA7-0DE0-FD96-1B049798B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59" y="2373518"/>
            <a:ext cx="507932" cy="5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ou Only Live Once&quot; Images – Browse 327 Stock Photos, Vectors, and Video |  Adobe Stock">
            <a:extLst>
              <a:ext uri="{FF2B5EF4-FFF2-40B4-BE49-F238E27FC236}">
                <a16:creationId xmlns:a16="http://schemas.microsoft.com/office/drawing/2014/main" id="{8139DCDC-E1F8-6010-850C-6D67CA22C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446" y="3110344"/>
            <a:ext cx="794586" cy="45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i Logo: Over 4,892 Royalty-Free ...">
            <a:extLst>
              <a:ext uri="{FF2B5EF4-FFF2-40B4-BE49-F238E27FC236}">
                <a16:creationId xmlns:a16="http://schemas.microsoft.com/office/drawing/2014/main" id="{A4AD2C34-6BD4-4115-1926-1CAC37C4A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826" y="3056970"/>
            <a:ext cx="624800" cy="62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8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8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8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8"/>
          <p:cNvCxnSpPr/>
          <p:nvPr/>
        </p:nvCxnSpPr>
        <p:spPr>
          <a:xfrm>
            <a:off x="4861244" y="4818185"/>
            <a:ext cx="3807576" cy="13462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8"/>
          <p:cNvSpPr/>
          <p:nvPr/>
        </p:nvSpPr>
        <p:spPr>
          <a:xfrm>
            <a:off x="1129751" y="658974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r>
              <a:rPr lang="en-US" sz="3600" b="1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925175" y="1382400"/>
            <a:ext cx="75951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749" y="1318235"/>
            <a:ext cx="75951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5.</a:t>
            </a:r>
            <a:r>
              <a:rPr lang="en-US" sz="1600" dirty="0"/>
              <a:t> </a:t>
            </a:r>
            <a:r>
              <a:rPr lang="en-US" sz="1600" b="1" dirty="0"/>
              <a:t>LLM Integration:</a:t>
            </a:r>
            <a:br>
              <a:rPr lang="en-US" sz="1600" dirty="0"/>
            </a:br>
            <a:r>
              <a:rPr lang="en-US" sz="1600" dirty="0"/>
              <a:t>▪ DeepSeek-V3 (Multilingual Advisory Generator)</a:t>
            </a:r>
            <a:br>
              <a:rPr lang="en-US" sz="1600" dirty="0"/>
            </a:br>
            <a:r>
              <a:rPr lang="en-US" sz="1600" dirty="0"/>
              <a:t>▪ Hindi &amp; English Support</a:t>
            </a:r>
          </a:p>
          <a:p>
            <a:endParaRPr lang="en-IN" sz="1600" dirty="0"/>
          </a:p>
          <a:p>
            <a:r>
              <a:rPr lang="en-IN" sz="1600" dirty="0"/>
              <a:t>6.</a:t>
            </a:r>
            <a:r>
              <a:rPr lang="en-US" sz="1600" dirty="0"/>
              <a:t> </a:t>
            </a:r>
            <a:r>
              <a:rPr lang="en-US" sz="1600" b="1" dirty="0"/>
              <a:t>APIs Used:</a:t>
            </a:r>
            <a:br>
              <a:rPr lang="en-US" sz="1600" dirty="0"/>
            </a:br>
            <a:r>
              <a:rPr lang="en-US" sz="1600" dirty="0"/>
              <a:t>▪ </a:t>
            </a:r>
            <a:r>
              <a:rPr lang="en-US" sz="1600" dirty="0" err="1"/>
              <a:t>OpenWeather</a:t>
            </a:r>
            <a:r>
              <a:rPr lang="en-US" sz="1600" dirty="0"/>
              <a:t> API (Real-Time Weather Data)</a:t>
            </a:r>
            <a:br>
              <a:rPr lang="en-US" sz="1600" dirty="0"/>
            </a:br>
            <a:r>
              <a:rPr lang="en-US" sz="1600" dirty="0"/>
              <a:t>▪ Geolocation API (Location-Based Services)</a:t>
            </a:r>
          </a:p>
          <a:p>
            <a:endParaRPr lang="en-IN" sz="1600" dirty="0"/>
          </a:p>
          <a:p>
            <a:r>
              <a:rPr lang="en-IN" dirty="0"/>
              <a:t>7. </a:t>
            </a:r>
            <a:r>
              <a:rPr lang="en-IN" sz="1600" dirty="0"/>
              <a:t>• </a:t>
            </a:r>
            <a:r>
              <a:rPr lang="en-IN" sz="1600" b="1" dirty="0"/>
              <a:t>Database:</a:t>
            </a:r>
            <a:br>
              <a:rPr lang="en-IN" sz="1600" dirty="0"/>
            </a:br>
            <a:r>
              <a:rPr lang="en-IN" sz="1600" dirty="0"/>
              <a:t>▪ Firebase / MySQL</a:t>
            </a:r>
            <a:br>
              <a:rPr lang="en-IN" sz="1600" dirty="0"/>
            </a:br>
            <a:r>
              <a:rPr lang="en-IN" sz="1600" dirty="0"/>
              <a:t>▪ User History &amp; Analytics Storage</a:t>
            </a:r>
          </a:p>
        </p:txBody>
      </p:sp>
      <p:pic>
        <p:nvPicPr>
          <p:cNvPr id="2050" name="Picture 2" descr="OpenWeather Logo PNG (Transparent) SVG ...">
            <a:extLst>
              <a:ext uri="{FF2B5EF4-FFF2-40B4-BE49-F238E27FC236}">
                <a16:creationId xmlns:a16="http://schemas.microsoft.com/office/drawing/2014/main" id="{8C178A85-80D0-080A-9178-4FA3D3924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134" y="1254070"/>
            <a:ext cx="1653088" cy="73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MySQL | Austin TX">
            <a:extLst>
              <a:ext uri="{FF2B5EF4-FFF2-40B4-BE49-F238E27FC236}">
                <a16:creationId xmlns:a16="http://schemas.microsoft.com/office/drawing/2014/main" id="{3CF96A82-6859-AB0A-36E7-6A0613402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134" y="2216892"/>
            <a:ext cx="709715" cy="70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075103-0AFC-53FB-7EF6-B679A8C81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134" y="2888148"/>
            <a:ext cx="2095515" cy="48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5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6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6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6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6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6"/>
          <p:cNvSpPr/>
          <p:nvPr/>
        </p:nvSpPr>
        <p:spPr>
          <a:xfrm>
            <a:off x="1114826" y="657987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Whether similar solution exist 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AA778-078B-EA9E-31B1-C98F7B235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46" y="1213430"/>
            <a:ext cx="6677880" cy="3210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4E2C7058-08C4-5C06-102C-28DA4AB0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6">
            <a:extLst>
              <a:ext uri="{FF2B5EF4-FFF2-40B4-BE49-F238E27FC236}">
                <a16:creationId xmlns:a16="http://schemas.microsoft.com/office/drawing/2014/main" id="{F96CD86D-0A9E-849C-D729-9ABF6FBF88A6}"/>
              </a:ext>
            </a:extLst>
          </p:cNvPr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6">
            <a:extLst>
              <a:ext uri="{FF2B5EF4-FFF2-40B4-BE49-F238E27FC236}">
                <a16:creationId xmlns:a16="http://schemas.microsoft.com/office/drawing/2014/main" id="{3D7D81C7-E149-C9FD-85A6-51D59A79AFDE}"/>
              </a:ext>
            </a:extLst>
          </p:cNvPr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6" descr="https://pitch-assets-ccb95893-de3f-4266-973c-20049231b248.s3.eu-west-1.amazonaws.com/4acea84d-d032-4b7a-92ab-c57b1c365b86?pitch-bytes=115951&amp;pitch-content-type=image%2Fpng">
            <a:extLst>
              <a:ext uri="{FF2B5EF4-FFF2-40B4-BE49-F238E27FC236}">
                <a16:creationId xmlns:a16="http://schemas.microsoft.com/office/drawing/2014/main" id="{C1AFA372-A133-070C-7F96-97C3E2DAD9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6">
            <a:extLst>
              <a:ext uri="{FF2B5EF4-FFF2-40B4-BE49-F238E27FC236}">
                <a16:creationId xmlns:a16="http://schemas.microsoft.com/office/drawing/2014/main" id="{A5954510-F8F2-C58D-02C2-8ABC6BCE3275}"/>
              </a:ext>
            </a:extLst>
          </p:cNvPr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6">
            <a:extLst>
              <a:ext uri="{FF2B5EF4-FFF2-40B4-BE49-F238E27FC236}">
                <a16:creationId xmlns:a16="http://schemas.microsoft.com/office/drawing/2014/main" id="{FC214DD3-5DBF-DF34-8523-633A4CB44D14}"/>
              </a:ext>
            </a:extLst>
          </p:cNvPr>
          <p:cNvSpPr/>
          <p:nvPr/>
        </p:nvSpPr>
        <p:spPr>
          <a:xfrm>
            <a:off x="1114825" y="657987"/>
            <a:ext cx="7780521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Whether similar solution exist ?(Continued):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>
            <a:extLst>
              <a:ext uri="{FF2B5EF4-FFF2-40B4-BE49-F238E27FC236}">
                <a16:creationId xmlns:a16="http://schemas.microsoft.com/office/drawing/2014/main" id="{481853BF-7145-C5F2-47C4-6661205B0627}"/>
              </a:ext>
            </a:extLst>
          </p:cNvPr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0D6F-3A60-D806-30E5-36810588B8C2}"/>
              </a:ext>
            </a:extLst>
          </p:cNvPr>
          <p:cNvSpPr txBox="1"/>
          <p:nvPr/>
        </p:nvSpPr>
        <p:spPr>
          <a:xfrm>
            <a:off x="1114824" y="1138133"/>
            <a:ext cx="725978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Makes Smart </a:t>
            </a:r>
            <a:r>
              <a:rPr lang="en-IN" b="1" dirty="0" err="1"/>
              <a:t>Kissan</a:t>
            </a:r>
            <a:r>
              <a:rPr lang="en-IN" b="1" dirty="0"/>
              <a:t> Different?</a:t>
            </a:r>
          </a:p>
          <a:p>
            <a:r>
              <a:rPr lang="en-IN" dirty="0"/>
              <a:t>• Complete end-to-end system: </a:t>
            </a:r>
            <a:r>
              <a:rPr lang="en-IN" b="1" dirty="0"/>
              <a:t>Detection → Severity → Recommendation → Advisory</a:t>
            </a:r>
            <a:br>
              <a:rPr lang="en-IN" dirty="0"/>
            </a:br>
            <a:r>
              <a:rPr lang="en-IN" dirty="0"/>
              <a:t>• Provides exact pesticide dosage and spray interval</a:t>
            </a:r>
            <a:br>
              <a:rPr lang="en-IN" dirty="0"/>
            </a:br>
            <a:r>
              <a:rPr lang="en-IN" dirty="0"/>
              <a:t>• Integrates </a:t>
            </a:r>
            <a:r>
              <a:rPr lang="en-IN" b="1" dirty="0"/>
              <a:t>real-time weather </a:t>
            </a:r>
            <a:r>
              <a:rPr lang="en-IN" dirty="0"/>
              <a:t>data for smart spray decisions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Multilingual AI assistant </a:t>
            </a:r>
            <a:r>
              <a:rPr lang="en-IN" dirty="0"/>
              <a:t>(Hindi &amp; English support)</a:t>
            </a:r>
            <a:br>
              <a:rPr lang="en-IN" dirty="0"/>
            </a:br>
            <a:r>
              <a:rPr lang="en-IN" dirty="0"/>
              <a:t>• Unified decision-support platform in one single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08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7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7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7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7"/>
          <p:cNvSpPr/>
          <p:nvPr/>
        </p:nvSpPr>
        <p:spPr>
          <a:xfrm>
            <a:off x="1129762" y="603025"/>
            <a:ext cx="753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Your novelty, either in tech or otherwise 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749" y="1201922"/>
            <a:ext cx="784381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Our Innovation &amp; Novelty:</a:t>
            </a:r>
          </a:p>
          <a:p>
            <a:r>
              <a:rPr lang="en-IN" sz="1600" b="1" dirty="0"/>
              <a:t>1.Technical Innovation</a:t>
            </a:r>
          </a:p>
          <a:p>
            <a:r>
              <a:rPr lang="en-IN" sz="1600" dirty="0"/>
              <a:t>• Integrated </a:t>
            </a:r>
            <a:r>
              <a:rPr lang="en-IN" sz="1600" b="1" dirty="0"/>
              <a:t>AI + Deep Learning + LLM Architecture</a:t>
            </a:r>
            <a:br>
              <a:rPr lang="en-IN" sz="1600" dirty="0"/>
            </a:br>
            <a:r>
              <a:rPr lang="en-IN" sz="1600" dirty="0"/>
              <a:t>• Infection severity percentage calculation (not just disease name)</a:t>
            </a:r>
            <a:br>
              <a:rPr lang="en-IN" sz="1600" dirty="0"/>
            </a:br>
            <a:r>
              <a:rPr lang="en-IN" sz="1600" dirty="0"/>
              <a:t>• Precision dosage recommendation system</a:t>
            </a:r>
            <a:br>
              <a:rPr lang="en-IN" sz="1600" dirty="0"/>
            </a:br>
            <a:r>
              <a:rPr lang="en-IN" sz="1600" dirty="0"/>
              <a:t>• Real-time weather-based spray optimization</a:t>
            </a:r>
            <a:br>
              <a:rPr lang="en-IN" sz="1600" dirty="0"/>
            </a:br>
            <a:r>
              <a:rPr lang="en-IN" sz="1600" dirty="0"/>
              <a:t>• LLM-powered multilingual explainable advisory</a:t>
            </a:r>
          </a:p>
          <a:p>
            <a:endParaRPr lang="en-IN" sz="1600" dirty="0"/>
          </a:p>
          <a:p>
            <a:r>
              <a:rPr lang="en-IN" sz="1600" b="1" dirty="0"/>
              <a:t>2. Practical Innovation</a:t>
            </a:r>
          </a:p>
          <a:p>
            <a:r>
              <a:rPr lang="en-IN" sz="1600" dirty="0"/>
              <a:t>• Smart irrigation (Auto + Manual pump control)</a:t>
            </a:r>
            <a:br>
              <a:rPr lang="en-IN" sz="1600" dirty="0"/>
            </a:br>
            <a:r>
              <a:rPr lang="en-IN" sz="1600" dirty="0"/>
              <a:t>• Farmer-friendly simple interface</a:t>
            </a:r>
            <a:br>
              <a:rPr lang="en-IN" sz="1600" dirty="0"/>
            </a:br>
            <a:r>
              <a:rPr lang="en-IN" sz="1600" dirty="0"/>
              <a:t>• Lightweight design for low-end smartphones</a:t>
            </a:r>
            <a:br>
              <a:rPr lang="en-IN" sz="1600" dirty="0"/>
            </a:br>
            <a:r>
              <a:rPr lang="en-IN" sz="1600" dirty="0"/>
              <a:t>• Complete detection-to-treatment workflow in one platform</a:t>
            </a:r>
          </a:p>
          <a:p>
            <a:endParaRPr lang="en-IN" sz="1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g3bf7585161d_0_2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g3bf7585161d_0_2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bf7585161d_0_2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g3bf7585161d_0_2"/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g3bf7585161d_0_2"/>
          <p:cNvSpPr/>
          <p:nvPr/>
        </p:nvSpPr>
        <p:spPr>
          <a:xfrm>
            <a:off x="1129750" y="721925"/>
            <a:ext cx="753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How can you monetize the solution?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f7585161d_0_2"/>
          <p:cNvSpPr/>
          <p:nvPr/>
        </p:nvSpPr>
        <p:spPr>
          <a:xfrm>
            <a:off x="730335" y="383689"/>
            <a:ext cx="7307728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4825" y="1358403"/>
            <a:ext cx="78070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Revenue &amp; Business Model:</a:t>
            </a:r>
          </a:p>
          <a:p>
            <a:endParaRPr lang="en-US" sz="1600" b="1" dirty="0"/>
          </a:p>
          <a:p>
            <a:r>
              <a:rPr lang="en-US" sz="1600" b="1" dirty="0"/>
              <a:t>🔹 Freemium Model (B2F – Direct to Farmers)</a:t>
            </a:r>
          </a:p>
          <a:p>
            <a:r>
              <a:rPr lang="en-US" sz="1600" dirty="0"/>
              <a:t>• Basic disease detection – Free</a:t>
            </a:r>
            <a:br>
              <a:rPr lang="en-US" sz="1600" dirty="0"/>
            </a:br>
            <a:r>
              <a:rPr lang="en-US" sz="1600" dirty="0"/>
              <a:t>• Advanced advisory &amp; detailed insights – Subscription-based</a:t>
            </a:r>
            <a:br>
              <a:rPr lang="en-US" sz="1600" dirty="0"/>
            </a:br>
            <a:r>
              <a:rPr lang="en-US" sz="1600" dirty="0"/>
              <a:t>• Weather-integrated smart recommendations – Premium feature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🔹 Premium Analytics (For Large Farmers)</a:t>
            </a:r>
          </a:p>
          <a:p>
            <a:r>
              <a:rPr lang="en-US" sz="1600" dirty="0"/>
              <a:t>• Crop health history tracking</a:t>
            </a:r>
            <a:br>
              <a:rPr lang="en-US" sz="1600" dirty="0"/>
            </a:br>
            <a:r>
              <a:rPr lang="en-US" sz="1600" dirty="0"/>
              <a:t>• Infection trend analysis</a:t>
            </a:r>
            <a:br>
              <a:rPr lang="en-US" sz="1600" dirty="0"/>
            </a:br>
            <a:r>
              <a:rPr lang="en-US" sz="1600" dirty="0"/>
              <a:t>• Farm performance insights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1935F07-A1E2-2697-1E04-113CFEA4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g3bf7585161d_0_2">
            <a:extLst>
              <a:ext uri="{FF2B5EF4-FFF2-40B4-BE49-F238E27FC236}">
                <a16:creationId xmlns:a16="http://schemas.microsoft.com/office/drawing/2014/main" id="{B8047D47-E36B-9BBB-620E-137ED275A4FA}"/>
              </a:ext>
            </a:extLst>
          </p:cNvPr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g3bf7585161d_0_2">
            <a:extLst>
              <a:ext uri="{FF2B5EF4-FFF2-40B4-BE49-F238E27FC236}">
                <a16:creationId xmlns:a16="http://schemas.microsoft.com/office/drawing/2014/main" id="{3688C690-B844-210F-B44B-E49B4CE56A07}"/>
              </a:ext>
            </a:extLst>
          </p:cNvPr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bf7585161d_0_2" descr="https://pitch-assets-ccb95893-de3f-4266-973c-20049231b248.s3.eu-west-1.amazonaws.com/4acea84d-d032-4b7a-92ab-c57b1c365b86?pitch-bytes=115951&amp;pitch-content-type=image%2Fpng">
            <a:extLst>
              <a:ext uri="{FF2B5EF4-FFF2-40B4-BE49-F238E27FC236}">
                <a16:creationId xmlns:a16="http://schemas.microsoft.com/office/drawing/2014/main" id="{48986011-C3C6-ADF5-DE64-58E8AD02CE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g3bf7585161d_0_2">
            <a:extLst>
              <a:ext uri="{FF2B5EF4-FFF2-40B4-BE49-F238E27FC236}">
                <a16:creationId xmlns:a16="http://schemas.microsoft.com/office/drawing/2014/main" id="{F64E54C1-30AB-129B-AEC5-AC4DFEE3AEC1}"/>
              </a:ext>
            </a:extLst>
          </p:cNvPr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g3bf7585161d_0_2">
            <a:extLst>
              <a:ext uri="{FF2B5EF4-FFF2-40B4-BE49-F238E27FC236}">
                <a16:creationId xmlns:a16="http://schemas.microsoft.com/office/drawing/2014/main" id="{14E69F15-72F6-62E3-3051-4F20DF47E73E}"/>
              </a:ext>
            </a:extLst>
          </p:cNvPr>
          <p:cNvSpPr/>
          <p:nvPr/>
        </p:nvSpPr>
        <p:spPr>
          <a:xfrm>
            <a:off x="1129750" y="721925"/>
            <a:ext cx="753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How can you monetize the solution?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f7585161d_0_2">
            <a:extLst>
              <a:ext uri="{FF2B5EF4-FFF2-40B4-BE49-F238E27FC236}">
                <a16:creationId xmlns:a16="http://schemas.microsoft.com/office/drawing/2014/main" id="{57C8DCDB-6EAA-A132-66B0-C7EF9FA98990}"/>
              </a:ext>
            </a:extLst>
          </p:cNvPr>
          <p:cNvSpPr/>
          <p:nvPr/>
        </p:nvSpPr>
        <p:spPr>
          <a:xfrm>
            <a:off x="730335" y="383689"/>
            <a:ext cx="7307728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D04ED-4EE7-AB71-9A33-222DA0F64098}"/>
              </a:ext>
            </a:extLst>
          </p:cNvPr>
          <p:cNvSpPr txBox="1"/>
          <p:nvPr/>
        </p:nvSpPr>
        <p:spPr>
          <a:xfrm>
            <a:off x="1114825" y="1358403"/>
            <a:ext cx="78070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🔹 B2B &amp; Institutional Partnerships</a:t>
            </a:r>
          </a:p>
          <a:p>
            <a:r>
              <a:rPr lang="en-US" sz="1600" dirty="0"/>
              <a:t>• Collaboration with fertilizer &amp; </a:t>
            </a:r>
            <a:r>
              <a:rPr lang="en-US" sz="1600" dirty="0" err="1"/>
              <a:t>agri</a:t>
            </a:r>
            <a:r>
              <a:rPr lang="en-US" sz="1600" dirty="0"/>
              <a:t>-input companies</a:t>
            </a:r>
            <a:br>
              <a:rPr lang="en-US" sz="1600" dirty="0"/>
            </a:br>
            <a:r>
              <a:rPr lang="en-US" sz="1600" dirty="0"/>
              <a:t>• Integration with FPOs &amp; cooperatives</a:t>
            </a:r>
            <a:br>
              <a:rPr lang="en-US" sz="1600" dirty="0"/>
            </a:br>
            <a:r>
              <a:rPr lang="en-US" sz="1600" dirty="0"/>
              <a:t>• Custom dashboard solutions for </a:t>
            </a:r>
            <a:r>
              <a:rPr lang="en-US" sz="1600" dirty="0" err="1"/>
              <a:t>agri</a:t>
            </a:r>
            <a:r>
              <a:rPr lang="en-US" sz="1600" dirty="0"/>
              <a:t>-organizations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🔹 Government &amp; Agri-Tech Integration</a:t>
            </a:r>
          </a:p>
          <a:p>
            <a:r>
              <a:rPr lang="en-US" sz="1600" dirty="0"/>
              <a:t>• Integration with government agriculture schemes</a:t>
            </a:r>
            <a:br>
              <a:rPr lang="en-US" sz="1600" dirty="0"/>
            </a:br>
            <a:r>
              <a:rPr lang="en-US" sz="1600" dirty="0"/>
              <a:t>• Data-driven decision support for policy programs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600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9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9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9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9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9"/>
          <p:cNvSpPr/>
          <p:nvPr/>
        </p:nvSpPr>
        <p:spPr>
          <a:xfrm>
            <a:off x="1132675" y="833800"/>
            <a:ext cx="753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What is your stability and growth plan?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749" y="1474329"/>
            <a:ext cx="75533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Phase 1 (0–6 Months):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Launch Minimum Viable Product (MVP)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Collect user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model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dirty="0"/>
              <a:t>Phase 2 (6–12 Months):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Expand crop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Add soil analysis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Add voice input for illiterate farmers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g3bf7585161d_0_14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g3bf7585161d_0_14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bf7585161d_0_14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g3bf7585161d_0_14"/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g3bf7585161d_0_14"/>
          <p:cNvSpPr/>
          <p:nvPr/>
        </p:nvSpPr>
        <p:spPr>
          <a:xfrm>
            <a:off x="1328825" y="703025"/>
            <a:ext cx="753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What is your stability and growth plan?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bf7585161d_0_14"/>
          <p:cNvSpPr/>
          <p:nvPr/>
        </p:nvSpPr>
        <p:spPr>
          <a:xfrm>
            <a:off x="1132676" y="1726156"/>
            <a:ext cx="4572000" cy="1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bf7585161d_0_14"/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28825" y="1315765"/>
            <a:ext cx="72872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Phase 3 (1–2 Years):</a:t>
            </a:r>
          </a:p>
          <a:p>
            <a:r>
              <a:rPr lang="en-IN" sz="1600" dirty="0"/>
              <a:t>• Launch Android application</a:t>
            </a:r>
            <a:br>
              <a:rPr lang="en-IN" sz="1600" dirty="0"/>
            </a:br>
            <a:r>
              <a:rPr lang="en-IN" sz="1600" dirty="0"/>
              <a:t>• Partner with </a:t>
            </a:r>
            <a:r>
              <a:rPr lang="en-IN" sz="1600" dirty="0" err="1"/>
              <a:t>agri</a:t>
            </a:r>
            <a:r>
              <a:rPr lang="en-IN" sz="1600" dirty="0"/>
              <a:t>-cooperatives &amp; FPOs</a:t>
            </a:r>
            <a:br>
              <a:rPr lang="en-IN" sz="1600" dirty="0"/>
            </a:br>
            <a:r>
              <a:rPr lang="en-IN" sz="1600" dirty="0"/>
              <a:t>• Integrate </a:t>
            </a:r>
            <a:r>
              <a:rPr lang="en-IN" sz="1600" b="1" dirty="0"/>
              <a:t>satellite-based</a:t>
            </a:r>
            <a:r>
              <a:rPr lang="en-IN" sz="1600" dirty="0"/>
              <a:t> crop monitoring</a:t>
            </a:r>
            <a:br>
              <a:rPr lang="en-IN" sz="1600" dirty="0"/>
            </a:br>
            <a:r>
              <a:rPr lang="en-IN" sz="1600" dirty="0"/>
              <a:t>• Develop AI-powered </a:t>
            </a:r>
            <a:r>
              <a:rPr lang="en-IN" sz="1600" b="1" dirty="0"/>
              <a:t>smart sprinkling hardware integration</a:t>
            </a:r>
          </a:p>
          <a:p>
            <a:endParaRPr lang="en-IN" sz="1600" dirty="0"/>
          </a:p>
          <a:p>
            <a:r>
              <a:rPr lang="en-US" sz="1600" b="1" dirty="0"/>
              <a:t>Long-Term Vision:</a:t>
            </a:r>
          </a:p>
          <a:p>
            <a:r>
              <a:rPr lang="en-US" sz="1600" dirty="0"/>
              <a:t>• Build a scalable Agri-AI ecosystem combining software + intelligent automation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g3bf7585161d_0_24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g3bf7585161d_0_24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g3bf7585161d_0_24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bf7585161d_0_24"/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g3bf7585161d_0_24"/>
          <p:cNvSpPr/>
          <p:nvPr/>
        </p:nvSpPr>
        <p:spPr>
          <a:xfrm>
            <a:off x="925175" y="679225"/>
            <a:ext cx="8218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How can you generate revenue in the first 24 months?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585161d_0_24"/>
          <p:cNvSpPr/>
          <p:nvPr/>
        </p:nvSpPr>
        <p:spPr>
          <a:xfrm>
            <a:off x="1132676" y="1726156"/>
            <a:ext cx="4572000" cy="1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bf7585161d_0_24"/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bf7585161d_0_24"/>
          <p:cNvSpPr/>
          <p:nvPr/>
        </p:nvSpPr>
        <p:spPr>
          <a:xfrm>
            <a:off x="1077575" y="1423025"/>
            <a:ext cx="7595100" cy="29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8750" y="1104493"/>
            <a:ext cx="807027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Year 1 (0–12 Months):</a:t>
            </a:r>
          </a:p>
          <a:p>
            <a:r>
              <a:rPr lang="en-US" sz="1600" dirty="0"/>
              <a:t>• Target 5,000 premium users</a:t>
            </a:r>
            <a:br>
              <a:rPr lang="en-US" sz="1600" dirty="0"/>
            </a:br>
            <a:r>
              <a:rPr lang="en-US" sz="1600" dirty="0"/>
              <a:t>• Subscription: ₹199/month</a:t>
            </a:r>
            <a:br>
              <a:rPr lang="en-US" sz="1600" dirty="0"/>
            </a:br>
            <a:r>
              <a:rPr lang="en-US" sz="1600" dirty="0"/>
              <a:t>• Estimated revenue: ₹12–15 Lakhs annually</a:t>
            </a:r>
            <a:br>
              <a:rPr lang="en-US" sz="1600" dirty="0"/>
            </a:br>
            <a:r>
              <a:rPr lang="en-US" sz="1600" dirty="0"/>
              <a:t>• Focus on Tier-2 &amp; Tier-3 farmer adoption</a:t>
            </a:r>
          </a:p>
          <a:p>
            <a:endParaRPr lang="en-US" sz="1600" dirty="0"/>
          </a:p>
          <a:p>
            <a:r>
              <a:rPr lang="en-US" sz="1600" b="1" dirty="0"/>
              <a:t>Year 2 (12–24 Months):</a:t>
            </a:r>
          </a:p>
          <a:p>
            <a:r>
              <a:rPr lang="en-US" sz="1600" dirty="0"/>
              <a:t>• Scale to 25,000+ users</a:t>
            </a:r>
            <a:br>
              <a:rPr lang="en-US" sz="1600" dirty="0"/>
            </a:br>
            <a:r>
              <a:rPr lang="en-US" sz="1600" dirty="0"/>
              <a:t>• Introduce </a:t>
            </a:r>
            <a:r>
              <a:rPr lang="en-US" sz="1600" b="1" dirty="0"/>
              <a:t>B2B </a:t>
            </a:r>
            <a:r>
              <a:rPr lang="en-US" sz="1600" b="1" dirty="0" err="1"/>
              <a:t>agri</a:t>
            </a:r>
            <a:r>
              <a:rPr lang="en-US" sz="1600" b="1" dirty="0"/>
              <a:t>-company </a:t>
            </a:r>
            <a:r>
              <a:rPr lang="en-US" sz="1600" dirty="0"/>
              <a:t>partnerships</a:t>
            </a:r>
            <a:br>
              <a:rPr lang="en-US" sz="1600" dirty="0"/>
            </a:br>
            <a:r>
              <a:rPr lang="en-US" sz="1600" dirty="0"/>
              <a:t>• Offer analytics dashboards for </a:t>
            </a:r>
            <a:r>
              <a:rPr lang="en-US" sz="1600" dirty="0" err="1"/>
              <a:t>agri</a:t>
            </a:r>
            <a:r>
              <a:rPr lang="en-US" sz="1600" dirty="0"/>
              <a:t>-cooperatives</a:t>
            </a:r>
            <a:br>
              <a:rPr lang="en-US" sz="1600" dirty="0"/>
            </a:br>
            <a:r>
              <a:rPr lang="en-US" sz="1600" dirty="0"/>
              <a:t>• Estimated revenue: ₹60–80 Lakh</a:t>
            </a:r>
          </a:p>
          <a:p>
            <a:endParaRPr lang="en-US" sz="1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23D866CE-A1AA-73FA-DC29-7FD92E63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g3bf7585161d_0_24">
            <a:extLst>
              <a:ext uri="{FF2B5EF4-FFF2-40B4-BE49-F238E27FC236}">
                <a16:creationId xmlns:a16="http://schemas.microsoft.com/office/drawing/2014/main" id="{97F7D046-5AF8-D5CE-3876-785F56A282C9}"/>
              </a:ext>
            </a:extLst>
          </p:cNvPr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g3bf7585161d_0_24">
            <a:extLst>
              <a:ext uri="{FF2B5EF4-FFF2-40B4-BE49-F238E27FC236}">
                <a16:creationId xmlns:a16="http://schemas.microsoft.com/office/drawing/2014/main" id="{C6ADBFA7-E9E8-DEC8-5DCA-C54205917B4D}"/>
              </a:ext>
            </a:extLst>
          </p:cNvPr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g3bf7585161d_0_24" descr="https://pitch-assets-ccb95893-de3f-4266-973c-20049231b248.s3.eu-west-1.amazonaws.com/4acea84d-d032-4b7a-92ab-c57b1c365b86?pitch-bytes=115951&amp;pitch-content-type=image%2Fpng">
            <a:extLst>
              <a:ext uri="{FF2B5EF4-FFF2-40B4-BE49-F238E27FC236}">
                <a16:creationId xmlns:a16="http://schemas.microsoft.com/office/drawing/2014/main" id="{0C126976-3976-6FF8-ED8D-4ACB2DB559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bf7585161d_0_24">
            <a:extLst>
              <a:ext uri="{FF2B5EF4-FFF2-40B4-BE49-F238E27FC236}">
                <a16:creationId xmlns:a16="http://schemas.microsoft.com/office/drawing/2014/main" id="{29C6F7FC-68A2-172E-1DFC-0BE2FFB2611D}"/>
              </a:ext>
            </a:extLst>
          </p:cNvPr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g3bf7585161d_0_24">
            <a:extLst>
              <a:ext uri="{FF2B5EF4-FFF2-40B4-BE49-F238E27FC236}">
                <a16:creationId xmlns:a16="http://schemas.microsoft.com/office/drawing/2014/main" id="{ECFC286F-C3B8-201A-1CC5-11D28012D7EA}"/>
              </a:ext>
            </a:extLst>
          </p:cNvPr>
          <p:cNvSpPr/>
          <p:nvPr/>
        </p:nvSpPr>
        <p:spPr>
          <a:xfrm>
            <a:off x="925175" y="679225"/>
            <a:ext cx="8218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How can you generate revenue in the first 24 months?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585161d_0_24">
            <a:extLst>
              <a:ext uri="{FF2B5EF4-FFF2-40B4-BE49-F238E27FC236}">
                <a16:creationId xmlns:a16="http://schemas.microsoft.com/office/drawing/2014/main" id="{7713D0FD-3343-4C3E-BC53-97E2ADAB962E}"/>
              </a:ext>
            </a:extLst>
          </p:cNvPr>
          <p:cNvSpPr/>
          <p:nvPr/>
        </p:nvSpPr>
        <p:spPr>
          <a:xfrm>
            <a:off x="1132676" y="1726156"/>
            <a:ext cx="4572000" cy="1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bf7585161d_0_24">
            <a:extLst>
              <a:ext uri="{FF2B5EF4-FFF2-40B4-BE49-F238E27FC236}">
                <a16:creationId xmlns:a16="http://schemas.microsoft.com/office/drawing/2014/main" id="{B775ED5D-ABE3-39FB-3BC4-38A076F6D15A}"/>
              </a:ext>
            </a:extLst>
          </p:cNvPr>
          <p:cNvSpPr/>
          <p:nvPr/>
        </p:nvSpPr>
        <p:spPr>
          <a:xfrm>
            <a:off x="925175" y="1270625"/>
            <a:ext cx="75951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bf7585161d_0_24">
            <a:extLst>
              <a:ext uri="{FF2B5EF4-FFF2-40B4-BE49-F238E27FC236}">
                <a16:creationId xmlns:a16="http://schemas.microsoft.com/office/drawing/2014/main" id="{37D0847F-2399-5701-52C8-434513ED6EE9}"/>
              </a:ext>
            </a:extLst>
          </p:cNvPr>
          <p:cNvSpPr/>
          <p:nvPr/>
        </p:nvSpPr>
        <p:spPr>
          <a:xfrm>
            <a:off x="1077575" y="1423025"/>
            <a:ext cx="7595100" cy="29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D102A-0DC3-D9D6-6AAB-3FB002B791D0}"/>
              </a:ext>
            </a:extLst>
          </p:cNvPr>
          <p:cNvSpPr txBox="1"/>
          <p:nvPr/>
        </p:nvSpPr>
        <p:spPr>
          <a:xfrm>
            <a:off x="928750" y="1104493"/>
            <a:ext cx="807027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Additional Revenue Streams:</a:t>
            </a:r>
          </a:p>
          <a:p>
            <a:r>
              <a:rPr lang="en-US" sz="1600" dirty="0"/>
              <a:t>• Sponsored </a:t>
            </a:r>
            <a:r>
              <a:rPr lang="en-US" sz="1600" dirty="0" err="1"/>
              <a:t>agri</a:t>
            </a:r>
            <a:r>
              <a:rPr lang="en-US" sz="1600" dirty="0"/>
              <a:t>-product recommendations</a:t>
            </a:r>
            <a:br>
              <a:rPr lang="en-US" sz="1600" dirty="0"/>
            </a:br>
            <a:r>
              <a:rPr lang="en-US" sz="1600" dirty="0"/>
              <a:t>• Fertilizer &amp; pesticide brand partnerships</a:t>
            </a:r>
            <a:br>
              <a:rPr lang="en-US" sz="1600" dirty="0"/>
            </a:br>
            <a:r>
              <a:rPr lang="en-US" sz="1600" dirty="0"/>
              <a:t>• Government </a:t>
            </a:r>
            <a:r>
              <a:rPr lang="en-US" sz="1600" dirty="0" err="1"/>
              <a:t>agri</a:t>
            </a:r>
            <a:r>
              <a:rPr lang="en-US" sz="1600" dirty="0"/>
              <a:t>-tech grants &amp; innovation funding</a:t>
            </a:r>
          </a:p>
          <a:p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547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g3bacf3f2511_4_0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g3bacf3f2511_4_0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g3bacf3f2511_4_0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g3bacf3f2511_4_0"/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g3bacf3f2511_4_0"/>
          <p:cNvSpPr/>
          <p:nvPr/>
        </p:nvSpPr>
        <p:spPr>
          <a:xfrm>
            <a:off x="1114825" y="566675"/>
            <a:ext cx="73905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Video links about your project: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Participants are requested to upload their </a:t>
            </a:r>
            <a:r>
              <a:rPr lang="en-US" b="1">
                <a:solidFill>
                  <a:schemeClr val="dk1"/>
                </a:solidFill>
              </a:rPr>
              <a:t>project explanation video or PDF</a:t>
            </a:r>
            <a:r>
              <a:rPr lang="en-US">
                <a:solidFill>
                  <a:schemeClr val="dk1"/>
                </a:solidFill>
              </a:rPr>
              <a:t> to </a:t>
            </a:r>
            <a:r>
              <a:rPr lang="en-US" b="1">
                <a:solidFill>
                  <a:schemeClr val="dk1"/>
                </a:solidFill>
              </a:rPr>
              <a:t>YouTube or Google Drive</a:t>
            </a:r>
            <a:r>
              <a:rPr lang="en-US">
                <a:solidFill>
                  <a:schemeClr val="dk1"/>
                </a:solidFill>
              </a:rPr>
              <a:t> and submit the shared link.</a:t>
            </a:r>
            <a:endParaRPr sz="1900" b="1">
              <a:solidFill>
                <a:schemeClr val="dk1"/>
              </a:solidFill>
            </a:endParaRPr>
          </a:p>
        </p:txBody>
      </p:sp>
      <p:sp>
        <p:nvSpPr>
          <p:cNvPr id="156" name="Google Shape;156;g3bacf3f2511_4_0"/>
          <p:cNvSpPr/>
          <p:nvPr/>
        </p:nvSpPr>
        <p:spPr>
          <a:xfrm>
            <a:off x="1114825" y="1654225"/>
            <a:ext cx="7261200" cy="27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link (If any):-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drive link (If any) :-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 Link(If any):-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 Link(If any):-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10"/>
          <p:cNvCxnSpPr/>
          <p:nvPr/>
        </p:nvCxnSpPr>
        <p:spPr>
          <a:xfrm>
            <a:off x="1129749" y="484117"/>
            <a:ext cx="7538415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10"/>
          <p:cNvSpPr/>
          <p:nvPr/>
        </p:nvSpPr>
        <p:spPr>
          <a:xfrm>
            <a:off x="3126" y="4430965"/>
            <a:ext cx="4858118" cy="712536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0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3972"/>
            <a:ext cx="1111412" cy="111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10"/>
          <p:cNvCxnSpPr/>
          <p:nvPr/>
        </p:nvCxnSpPr>
        <p:spPr>
          <a:xfrm>
            <a:off x="4861244" y="4820143"/>
            <a:ext cx="3807576" cy="11504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0"/>
          <p:cNvSpPr/>
          <p:nvPr/>
        </p:nvSpPr>
        <p:spPr>
          <a:xfrm>
            <a:off x="1114825" y="484114"/>
            <a:ext cx="64947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Team Details</a:t>
            </a:r>
            <a:r>
              <a:rPr lang="en-US" sz="3400" b="1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b="1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22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with mail and phone number)</a:t>
            </a:r>
            <a:r>
              <a:rPr lang="en-US" sz="26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200"/>
          </a:p>
        </p:txBody>
      </p:sp>
      <p:sp>
        <p:nvSpPr>
          <p:cNvPr id="167" name="Google Shape;167;p10"/>
          <p:cNvSpPr/>
          <p:nvPr/>
        </p:nvSpPr>
        <p:spPr>
          <a:xfrm>
            <a:off x="925175" y="1346900"/>
            <a:ext cx="7595100" cy="30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10"/>
          <p:cNvGraphicFramePr/>
          <p:nvPr/>
        </p:nvGraphicFramePr>
        <p:xfrm>
          <a:off x="865325" y="1115338"/>
          <a:ext cx="8278625" cy="3117674"/>
        </p:xfrm>
        <a:graphic>
          <a:graphicData uri="http://schemas.openxmlformats.org/drawingml/2006/table">
            <a:tbl>
              <a:tblPr>
                <a:noFill/>
                <a:tableStyleId>{852517EF-609B-4511-B89A-F292CE354342}</a:tableStyleId>
              </a:tblPr>
              <a:tblGrid>
                <a:gridCol w="16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/>
                        <a:t>Name</a:t>
                      </a:r>
                      <a:endParaRPr sz="1100" b="1"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/>
                        <a:t>Gender (M/F)</a:t>
                      </a:r>
                      <a:endParaRPr sz="1100" b="1"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/>
                        <a:t>Email id</a:t>
                      </a:r>
                      <a:endParaRPr sz="1100" b="1"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2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1"/>
                        <a:t>Mobile no.</a:t>
                      </a:r>
                      <a:endParaRPr sz="1100" b="1"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Team Leader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Team Member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Team Member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Team Member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Team Member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675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Team Member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8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Mentor/Guide</a:t>
                      </a:r>
                      <a:endParaRPr/>
                    </a:p>
                  </a:txBody>
                  <a:tcPr marL="68575" marR="6857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g3bf7585161d_0_36"/>
          <p:cNvCxnSpPr/>
          <p:nvPr/>
        </p:nvCxnSpPr>
        <p:spPr>
          <a:xfrm>
            <a:off x="1129749" y="484117"/>
            <a:ext cx="7538400" cy="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g3bf7585161d_0_36"/>
          <p:cNvSpPr/>
          <p:nvPr/>
        </p:nvSpPr>
        <p:spPr>
          <a:xfrm>
            <a:off x="3126" y="4430965"/>
            <a:ext cx="4858200" cy="712500"/>
          </a:xfrm>
          <a:prstGeom prst="homePlate">
            <a:avLst>
              <a:gd name="adj" fmla="val 50000"/>
            </a:avLst>
          </a:prstGeom>
          <a:solidFill>
            <a:srgbClr val="FF841D"/>
          </a:solidFill>
          <a:ln w="9525" cap="flat" cmpd="sng">
            <a:solidFill>
              <a:srgbClr val="FFD4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9875" tIns="201050" rIns="269875" bIns="20105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bf7585161d_0_36" descr="https://pitch-assets-ccb95893-de3f-4266-973c-20049231b248.s3.eu-west-1.amazonaws.com/4acea84d-d032-4b7a-92ab-c57b1c365b86?pitch-bytes=115951&amp;pitch-content-type=image%2F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2" y="-46738"/>
            <a:ext cx="1111413" cy="1111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bf7585161d_0_36"/>
          <p:cNvCxnSpPr/>
          <p:nvPr/>
        </p:nvCxnSpPr>
        <p:spPr>
          <a:xfrm>
            <a:off x="4861244" y="4820143"/>
            <a:ext cx="3807600" cy="11400"/>
          </a:xfrm>
          <a:prstGeom prst="straightConnector1">
            <a:avLst/>
          </a:prstGeom>
          <a:solidFill>
            <a:srgbClr val="FFFFFF"/>
          </a:solidFill>
          <a:ln w="21150" cap="flat" cmpd="sng">
            <a:solidFill>
              <a:srgbClr val="2B2A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g3bf7585161d_0_36"/>
          <p:cNvSpPr/>
          <p:nvPr/>
        </p:nvSpPr>
        <p:spPr>
          <a:xfrm>
            <a:off x="1114825" y="692150"/>
            <a:ext cx="8218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2B2A35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2400" b="1" u="sng">
              <a:solidFill>
                <a:srgbClr val="2B2A3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u="sng">
              <a:solidFill>
                <a:srgbClr val="2B2A3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g3bf7585161d_0_36"/>
          <p:cNvSpPr/>
          <p:nvPr/>
        </p:nvSpPr>
        <p:spPr>
          <a:xfrm>
            <a:off x="1132676" y="1726156"/>
            <a:ext cx="4572000" cy="1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9091" y="1115385"/>
            <a:ext cx="74745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• Empowering farmers with affordable AI-driven agricultural support</a:t>
            </a:r>
            <a:br>
              <a:rPr lang="en-IN" sz="1600" dirty="0"/>
            </a:br>
            <a:r>
              <a:rPr lang="en-IN" sz="1600" dirty="0"/>
              <a:t>• Early disease detection to reduce crop loss</a:t>
            </a:r>
            <a:br>
              <a:rPr lang="en-IN" sz="1600" dirty="0"/>
            </a:br>
            <a:r>
              <a:rPr lang="en-IN" sz="1600" dirty="0"/>
              <a:t>• Precise fertilizer &amp; spray recommendations</a:t>
            </a:r>
            <a:br>
              <a:rPr lang="en-IN" sz="1600" dirty="0"/>
            </a:br>
            <a:r>
              <a:rPr lang="en-IN" sz="1600" dirty="0"/>
              <a:t>• Multilingual intelligent advisory system</a:t>
            </a:r>
            <a:br>
              <a:rPr lang="en-IN" sz="1600" dirty="0"/>
            </a:br>
            <a:r>
              <a:rPr lang="en-IN" sz="1600" dirty="0"/>
              <a:t>• Moving from traditional farming to data-driven smart agriculture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Smart </a:t>
            </a:r>
            <a:r>
              <a:rPr lang="en-US" sz="1600" b="1" dirty="0" err="1"/>
              <a:t>Kissan</a:t>
            </a:r>
            <a:r>
              <a:rPr lang="en-US" sz="1600" b="1" dirty="0"/>
              <a:t> is building the future of intelligent farming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1136</Words>
  <Application>Microsoft Office PowerPoint</Application>
  <PresentationFormat>On-screen Show (16:9)</PresentationFormat>
  <Paragraphs>224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Inter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Pitch Software GmbH</dc:creator>
  <cp:lastModifiedBy>Abhinab Kumar Das</cp:lastModifiedBy>
  <cp:revision>10</cp:revision>
  <dcterms:created xsi:type="dcterms:W3CDTF">2023-10-31T15:23:48Z</dcterms:created>
  <dcterms:modified xsi:type="dcterms:W3CDTF">2026-02-13T19:20:14Z</dcterms:modified>
</cp:coreProperties>
</file>